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5143500" cx="9144000"/>
  <p:notesSz cx="6858000" cy="9144000"/>
  <p:embeddedFontLst>
    <p:embeddedFont>
      <p:font typeface="Work Sans ExtraLight"/>
      <p:regular r:id="rId66"/>
      <p:bold r:id="rId67"/>
      <p:italic r:id="rId68"/>
      <p:boldItalic r:id="rId69"/>
    </p:embeddedFont>
    <p:embeddedFont>
      <p:font typeface="Play"/>
      <p:regular r:id="rId70"/>
      <p:bold r:id="rId71"/>
    </p:embeddedFont>
    <p:embeddedFont>
      <p:font typeface="Montserrat SemiBold"/>
      <p:regular r:id="rId72"/>
      <p:bold r:id="rId73"/>
      <p:italic r:id="rId74"/>
      <p:boldItalic r:id="rId75"/>
    </p:embeddedFont>
    <p:embeddedFont>
      <p:font typeface="Montserrat"/>
      <p:regular r:id="rId76"/>
      <p:bold r:id="rId77"/>
      <p:italic r:id="rId78"/>
      <p:boldItalic r:id="rId79"/>
    </p:embeddedFont>
    <p:embeddedFont>
      <p:font typeface="Alexandria"/>
      <p:regular r:id="rId80"/>
      <p:bold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82" roundtripDataSignature="AMtx7miDWgU8Omjt0C54QutSOtpkTP8D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Alexandria-regular.fntdata"/><Relationship Id="rId82" Type="http://customschemas.google.com/relationships/presentationmetadata" Target="metadata"/><Relationship Id="rId81" Type="http://schemas.openxmlformats.org/officeDocument/2006/relationships/font" Target="fonts/Alexandri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MontserratSemiBold-bold.fntdata"/><Relationship Id="rId72" Type="http://schemas.openxmlformats.org/officeDocument/2006/relationships/font" Target="fonts/MontserratSemiBold-regular.fntdata"/><Relationship Id="rId31" Type="http://schemas.openxmlformats.org/officeDocument/2006/relationships/slide" Target="slides/slide26.xml"/><Relationship Id="rId75" Type="http://schemas.openxmlformats.org/officeDocument/2006/relationships/font" Target="fonts/MontserratSemiBold-boldItalic.fntdata"/><Relationship Id="rId30" Type="http://schemas.openxmlformats.org/officeDocument/2006/relationships/slide" Target="slides/slide25.xml"/><Relationship Id="rId74" Type="http://schemas.openxmlformats.org/officeDocument/2006/relationships/font" Target="fonts/MontserratSemiBold-italic.fntdata"/><Relationship Id="rId33" Type="http://schemas.openxmlformats.org/officeDocument/2006/relationships/slide" Target="slides/slide28.xml"/><Relationship Id="rId77" Type="http://schemas.openxmlformats.org/officeDocument/2006/relationships/font" Target="fonts/Montserrat-bold.fntdata"/><Relationship Id="rId32" Type="http://schemas.openxmlformats.org/officeDocument/2006/relationships/slide" Target="slides/slide27.xml"/><Relationship Id="rId76" Type="http://schemas.openxmlformats.org/officeDocument/2006/relationships/font" Target="fonts/Montserrat-regular.fntdata"/><Relationship Id="rId35" Type="http://schemas.openxmlformats.org/officeDocument/2006/relationships/slide" Target="slides/slide30.xml"/><Relationship Id="rId79" Type="http://schemas.openxmlformats.org/officeDocument/2006/relationships/font" Target="fonts/Montserrat-boldItalic.fntdata"/><Relationship Id="rId34" Type="http://schemas.openxmlformats.org/officeDocument/2006/relationships/slide" Target="slides/slide29.xml"/><Relationship Id="rId78" Type="http://schemas.openxmlformats.org/officeDocument/2006/relationships/font" Target="fonts/Montserrat-italic.fntdata"/><Relationship Id="rId71" Type="http://schemas.openxmlformats.org/officeDocument/2006/relationships/font" Target="fonts/Play-bold.fntdata"/><Relationship Id="rId70" Type="http://schemas.openxmlformats.org/officeDocument/2006/relationships/font" Target="fonts/Play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WorkSansExtraLight-regular.fntdata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WorkSansExtraLight-italic.fntdata"/><Relationship Id="rId23" Type="http://schemas.openxmlformats.org/officeDocument/2006/relationships/slide" Target="slides/slide18.xml"/><Relationship Id="rId67" Type="http://schemas.openxmlformats.org/officeDocument/2006/relationships/font" Target="fonts/WorkSansExtraLight-bold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WorkSansExtraLight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0c93173a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b0c93173a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1ced83868_0_1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b1ced83868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1ced83868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b1ced83868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1f116cf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1f116cf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0675849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d0675849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06758492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d06758492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15892e88b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d15892e88b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067584921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d06758492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067584921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d067584921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15892e88b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d15892e88b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067584921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d067584921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15892e88b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d15892e88b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067584921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d067584921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15892e88b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d15892e88b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0c93173ad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b0c93173ad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d0eb6d2b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g3d0eb6d2b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d15892e88b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g3d15892e88b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d0eb6d2b7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g3d0eb6d2b7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d15892e88b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g3d15892e88b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d0eb6d2b7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g3d0eb6d2b7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d15892e88b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g3d15892e88b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d0eb6d2b7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g3d0eb6d2b7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d15892e88b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g3d15892e88b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d0eb6d2b7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6" name="Google Shape;876;g3d0eb6d2b7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d15892e88b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3" name="Google Shape;903;g3d15892e88b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15892e88b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1" name="Google Shape;931;g3d15892e88b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d0eb6d2b71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" name="Google Shape;960;g3d0eb6d2b71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d15892e88b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8" name="Google Shape;988;g3d15892e88b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d0eb6d2b71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g3d0eb6d2b7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d0eb6d2b71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g3d0eb6d2b71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d0eb6d2b71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2" name="Google Shape;1072;g3d0eb6d2b71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d0eb6d2b71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0" name="Google Shape;1100;g3d0eb6d2b71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d0eb6d2b71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7" name="Google Shape;1127;g3d0eb6d2b71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d0eb6d2b71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5" name="Google Shape;1155;g3d0eb6d2b71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d0eb6d2b71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3" name="Google Shape;1183;g3d0eb6d2b71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d0eb6d2b71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1" name="Google Shape;1211;g3d0eb6d2b71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d0eb6d2b71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8" name="Google Shape;1238;g3d0eb6d2b71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d0eb6d2b71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6" name="Google Shape;1266;g3d0eb6d2b71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d0eb6d2b71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3" name="Google Shape;1293;g3d0eb6d2b71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3d0eb6d2b71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0" name="Google Shape;1320;g3d0eb6d2b71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3d0eb6d2b71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8" name="Google Shape;1348;g3d0eb6d2b71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3d0eb6d2b71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6" name="Google Shape;1376;g3d0eb6d2b71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3d15892e88b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3" name="Google Shape;1403;g3d15892e88b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d0eb6d2b71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1" name="Google Shape;1431;g3d0eb6d2b71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3d15892e88b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8" name="Google Shape;1458;g3d15892e88b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3b1ced83868_0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6" name="Google Shape;1486;g3b1ced83868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3b0c93173ad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3" name="Google Shape;1493;g3b0c93173ad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3d15892e88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3" name="Google Shape;1533;g3d15892e88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3d15892e88b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0" name="Google Shape;1560;g3d15892e88b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d15892e88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8" name="Google Shape;1588;g3d15892e88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3d15892e88b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5" name="Google Shape;1615;g3d15892e88b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3d15892e88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3" name="Google Shape;1643;g3d15892e88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3d15892e88b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0" name="Google Shape;1670;g3d15892e88b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3c1f116cfcf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8" name="Google Shape;1698;g3c1f116cfcf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3c1f116cfcf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5" name="Google Shape;1705;g3c1f116cfcf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3d15892e88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6" name="Google Shape;1736;g3d15892e88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3d15892e88b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3" name="Google Shape;1763;g3d15892e88b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3d15892e88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1" name="Google Shape;1791;g3d15892e88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3d15892e88b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8" name="Google Shape;1818;g3d15892e88b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3b1ced83868_0_1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6" name="Google Shape;1846;g3b1ced83868_0_1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a.me/%7B%7BTelefoneWhatsApp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a.me/%7B%7BTelefoneWhatsApp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a.me/%7B%7BTelefoneWhatsApp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a.me/%7B%7BTelefoneWhatsApp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a.me/%7B%7BTelefoneWhatsApp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wa.me/%7B%7BTelefoneWhatsApp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b0c93173ad_0_99" title="freepik_assistant-(3)3.png"/>
          <p:cNvPicPr preferRelativeResize="0"/>
          <p:nvPr/>
        </p:nvPicPr>
        <p:blipFill rotWithShape="1">
          <a:blip r:embed="rId3">
            <a:alphaModFix/>
          </a:blip>
          <a:srcRect b="0" l="1690" r="1690" t="0"/>
          <a:stretch/>
        </p:blipFill>
        <p:spPr>
          <a:xfrm>
            <a:off x="-350925" y="-194925"/>
            <a:ext cx="9559900" cy="5343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b0c93173ad_0_99" title="03_Prancheta 1 cópia 2.png"/>
          <p:cNvPicPr preferRelativeResize="0"/>
          <p:nvPr/>
        </p:nvPicPr>
        <p:blipFill rotWithShape="1">
          <a:blip r:embed="rId4">
            <a:alphaModFix/>
          </a:blip>
          <a:srcRect b="-47" l="50638" r="0" t="4354"/>
          <a:stretch/>
        </p:blipFill>
        <p:spPr>
          <a:xfrm>
            <a:off x="4493925" y="-26762"/>
            <a:ext cx="4767975" cy="51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b0c93173ad_0_99"/>
          <p:cNvSpPr txBox="1"/>
          <p:nvPr/>
        </p:nvSpPr>
        <p:spPr>
          <a:xfrm>
            <a:off x="495529" y="295825"/>
            <a:ext cx="35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Nova Estratégia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b0c93173ad_0_99"/>
          <p:cNvSpPr txBox="1"/>
          <p:nvPr/>
        </p:nvSpPr>
        <p:spPr>
          <a:xfrm>
            <a:off x="533025" y="947199"/>
            <a:ext cx="34617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Régua de Comunicação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g3b0c93173ad_0_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0198" y="4120400"/>
            <a:ext cx="1613579" cy="4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b0c93173ad_0_99" title="03_Prancheta 1 cópia 2.png"/>
          <p:cNvPicPr preferRelativeResize="0"/>
          <p:nvPr/>
        </p:nvPicPr>
        <p:blipFill rotWithShape="1">
          <a:blip r:embed="rId4">
            <a:alphaModFix/>
          </a:blip>
          <a:srcRect b="-47" l="0" r="62839" t="46585"/>
          <a:stretch/>
        </p:blipFill>
        <p:spPr>
          <a:xfrm>
            <a:off x="-401025" y="2239975"/>
            <a:ext cx="3589725" cy="29035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g3b0c93173ad_0_99"/>
          <p:cNvCxnSpPr>
            <a:endCxn id="86" idx="2"/>
          </p:cNvCxnSpPr>
          <p:nvPr/>
        </p:nvCxnSpPr>
        <p:spPr>
          <a:xfrm flipH="1" rot="10800000">
            <a:off x="571579" y="757525"/>
            <a:ext cx="1692300" cy="81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g3b0c93173ad_0_99"/>
          <p:cNvSpPr txBox="1"/>
          <p:nvPr/>
        </p:nvSpPr>
        <p:spPr>
          <a:xfrm>
            <a:off x="735807" y="2441625"/>
            <a:ext cx="26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250" lIns="52250" spcFirstLastPara="1" rIns="52250" wrap="square" tIns="52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"/>
              <a:buFont typeface="Arial"/>
              <a:buNone/>
            </a:pPr>
            <a:r>
              <a:rPr b="1" i="1" lang="pt-BR" sz="1045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Última revisão: </a:t>
            </a:r>
            <a:r>
              <a:rPr b="1" i="1" lang="pt-BR" sz="1045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20/03</a:t>
            </a:r>
            <a:endParaRPr b="1" i="1" sz="1045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b1ced83868_0_1008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b1ced83868_0_1008"/>
          <p:cNvSpPr txBox="1"/>
          <p:nvPr/>
        </p:nvSpPr>
        <p:spPr>
          <a:xfrm>
            <a:off x="285916" y="184550"/>
            <a:ext cx="471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pt-B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Modelo Apresentação Dívida</a:t>
            </a:r>
            <a:endParaRPr b="1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" name="Google Shape;98;g3b1ced83868_0_1008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b1ced83868_0_1008"/>
          <p:cNvSpPr/>
          <p:nvPr/>
        </p:nvSpPr>
        <p:spPr>
          <a:xfrm>
            <a:off x="410625" y="1298351"/>
            <a:ext cx="3411900" cy="2183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0" i="0" lang="pt-BR" sz="6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Detalhamento</a:t>
            </a:r>
            <a:r>
              <a:rPr b="0" i="0" lang="pt-BR" sz="6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0" i="0" lang="pt-BR" sz="6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Contrato: {{Número do contrato}}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0" i="0" lang="pt-BR" sz="6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Equipamento: {{Nome do equipamento}}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0" i="0" lang="pt-BR" sz="6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Vencimento: {{Vencimento mais antigo}}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0" i="0" lang="pt-BR" sz="6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Dias em atraso: {{Dias Vencidos}}</a:t>
            </a:r>
            <a:b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Valor(es) atualizado(s): {{Valores atualizados}}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Contrato: {{Número do contrato}}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Equipamento: {{Nome do equipamento}}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Vencimento: {{Vencimento mais antigo}}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Dias em atraso: {{Dias Vencidos}}</a:t>
            </a:r>
            <a:b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Valor(es) atualizado(s): {{Valores atualizados}}</a:t>
            </a:r>
            <a:endParaRPr b="1"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Contrato: {{Número do contrato}}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Equipamento: {{Nome do equipamento}}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Vencimento: {{Vencimento mais antigo}}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Dias em atraso: {{Dias Vencidos}}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Valor(es) atualizado(s): {{Valores atualizados}}</a:t>
            </a:r>
            <a:endParaRPr b="0" i="1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0" name="Google Shape;100;g3b1ced83868_0_1008"/>
          <p:cNvSpPr/>
          <p:nvPr/>
        </p:nvSpPr>
        <p:spPr>
          <a:xfrm>
            <a:off x="410750" y="953118"/>
            <a:ext cx="34119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8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Nome técnico:</a:t>
            </a:r>
            <a:r>
              <a:rPr lang="pt-BR" sz="8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r>
              <a:rPr lang="pt-BR" sz="8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</a:t>
            </a:r>
            <a:r>
              <a:rPr lang="pt-BR" sz="8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{BLOCO_CONTRATOS}}</a:t>
            </a:r>
            <a:r>
              <a:rPr b="1" lang="pt-BR" sz="8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br>
              <a:rPr b="1" lang="pt-BR" sz="8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8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Exemplo</a:t>
            </a:r>
            <a:r>
              <a:rPr lang="pt-BR" sz="8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</a:t>
            </a:r>
            <a:endParaRPr i="0" sz="803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1" name="Google Shape;101;g3b1ced83868_0_1008"/>
          <p:cNvSpPr/>
          <p:nvPr/>
        </p:nvSpPr>
        <p:spPr>
          <a:xfrm>
            <a:off x="410750" y="3691045"/>
            <a:ext cx="341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existam múltiplos contratos relacionados, </a:t>
            </a:r>
            <a: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às</a:t>
            </a:r>
            <a: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 informações deverão ser apresentadas em blocos distintos, garantindo melhor visualização e compreensão por parte do cliente.</a:t>
            </a:r>
            <a:endParaRPr sz="703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2" name="Google Shape;102;g3b1ced83868_0_1008"/>
          <p:cNvSpPr/>
          <p:nvPr/>
        </p:nvSpPr>
        <p:spPr>
          <a:xfrm>
            <a:off x="6388914" y="1327471"/>
            <a:ext cx="1193400" cy="170400"/>
          </a:xfrm>
          <a:prstGeom prst="flowChartAlternateProcess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PNP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b1ced83868_0_1008"/>
          <p:cNvSpPr/>
          <p:nvPr/>
        </p:nvSpPr>
        <p:spPr>
          <a:xfrm>
            <a:off x="4483725" y="929643"/>
            <a:ext cx="34119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8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Considerações: </a:t>
            </a:r>
            <a:endParaRPr i="0" sz="803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4" name="Google Shape;104;g3b1ced83868_0_1008"/>
          <p:cNvSpPr/>
          <p:nvPr/>
        </p:nvSpPr>
        <p:spPr>
          <a:xfrm>
            <a:off x="4483725" y="1417407"/>
            <a:ext cx="341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PNP = </a:t>
            </a:r>
            <a:r>
              <a:rPr b="1"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Primeira não paga</a:t>
            </a:r>
            <a:b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Mensagens personalizadas para clientes com vencimento da 1ª parcela. </a:t>
            </a:r>
            <a:b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as faixas que não tem essa marcação, considera-se o envio genérico</a:t>
            </a:r>
            <a:endParaRPr sz="703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703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5" name="Google Shape;105;g3b1ced83868_0_1008"/>
          <p:cNvSpPr/>
          <p:nvPr/>
        </p:nvSpPr>
        <p:spPr>
          <a:xfrm>
            <a:off x="4483725" y="2007471"/>
            <a:ext cx="341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Venda Financiada - Carteira Ideal</a:t>
            </a:r>
            <a:b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Comunicação personalizada, devido a impossibilidade de cancelamento do contrato. </a:t>
            </a:r>
            <a:endParaRPr sz="703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703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6" name="Google Shape;106;g3b1ced83868_0_1008"/>
          <p:cNvSpPr/>
          <p:nvPr/>
        </p:nvSpPr>
        <p:spPr>
          <a:xfrm>
            <a:off x="6388914" y="1905096"/>
            <a:ext cx="1193400" cy="170400"/>
          </a:xfrm>
          <a:prstGeom prst="flowChartAlternateProcess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FINZA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b1ced83868_0_1008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b1ced83868_0_1008"/>
          <p:cNvSpPr/>
          <p:nvPr/>
        </p:nvSpPr>
        <p:spPr>
          <a:xfrm>
            <a:off x="4483725" y="2597546"/>
            <a:ext cx="341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Status do boleto - Disponível</a:t>
            </a:r>
            <a:b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Atuação somente para o público que possui boleto com status DISPONÍVEL no Módulo Financeiro.</a:t>
            </a:r>
            <a:endParaRPr sz="703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703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703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9" name="Google Shape;109;g3b1ced83868_0_1008"/>
          <p:cNvSpPr/>
          <p:nvPr/>
        </p:nvSpPr>
        <p:spPr>
          <a:xfrm>
            <a:off x="6388914" y="2517626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b1ced83868_0_9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3776" y="1619074"/>
            <a:ext cx="4903475" cy="14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b1ced83868_0_957"/>
          <p:cNvSpPr txBox="1"/>
          <p:nvPr/>
        </p:nvSpPr>
        <p:spPr>
          <a:xfrm>
            <a:off x="5673813" y="3417903"/>
            <a:ext cx="21387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Etapa de Execução</a:t>
            </a:r>
            <a:endParaRPr b="0" i="0" sz="1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g3b1ced83868_0_957"/>
          <p:cNvSpPr txBox="1"/>
          <p:nvPr/>
        </p:nvSpPr>
        <p:spPr>
          <a:xfrm>
            <a:off x="5673813" y="3703203"/>
            <a:ext cx="32322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Cobrança Amigável</a:t>
            </a:r>
            <a:endParaRPr b="1" i="0" sz="17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1f116cfcf_0_0"/>
          <p:cNvSpPr/>
          <p:nvPr/>
        </p:nvSpPr>
        <p:spPr>
          <a:xfrm>
            <a:off x="2499760" y="2499145"/>
            <a:ext cx="823500" cy="8235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c1f116cfcf_0_0"/>
          <p:cNvSpPr txBox="1"/>
          <p:nvPr/>
        </p:nvSpPr>
        <p:spPr>
          <a:xfrm>
            <a:off x="2499760" y="2791033"/>
            <a:ext cx="823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rPr b="1" i="0" lang="pt-BR" sz="133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D-</a:t>
            </a:r>
            <a:r>
              <a:rPr b="1" lang="pt-BR" sz="133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i="0" sz="133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g3c1f116cfcf_0_0"/>
          <p:cNvSpPr txBox="1"/>
          <p:nvPr/>
        </p:nvSpPr>
        <p:spPr>
          <a:xfrm>
            <a:off x="2499760" y="2688147"/>
            <a:ext cx="823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3"/>
              <a:buFont typeface="Arial"/>
              <a:buNone/>
            </a:pPr>
            <a:r>
              <a:rPr b="0" i="0" lang="pt-BR" sz="951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951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g3c1f116cfcf_0_0"/>
          <p:cNvSpPr/>
          <p:nvPr/>
        </p:nvSpPr>
        <p:spPr>
          <a:xfrm>
            <a:off x="3559847" y="2499145"/>
            <a:ext cx="823500" cy="8235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c1f116cfcf_0_0"/>
          <p:cNvSpPr txBox="1"/>
          <p:nvPr/>
        </p:nvSpPr>
        <p:spPr>
          <a:xfrm>
            <a:off x="3559847" y="2791033"/>
            <a:ext cx="823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rPr b="1" i="0" lang="pt-BR" sz="133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D-5</a:t>
            </a:r>
            <a:endParaRPr b="1" i="0" sz="133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g3c1f116cfcf_0_0"/>
          <p:cNvSpPr txBox="1"/>
          <p:nvPr/>
        </p:nvSpPr>
        <p:spPr>
          <a:xfrm>
            <a:off x="3559847" y="2688147"/>
            <a:ext cx="823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3"/>
              <a:buFont typeface="Arial"/>
              <a:buNone/>
            </a:pPr>
            <a:r>
              <a:rPr b="0" i="0" lang="pt-BR" sz="951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951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g3c1f116cfcf_0_0"/>
          <p:cNvSpPr/>
          <p:nvPr/>
        </p:nvSpPr>
        <p:spPr>
          <a:xfrm>
            <a:off x="4619934" y="2499145"/>
            <a:ext cx="823500" cy="8235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c1f116cfcf_0_0"/>
          <p:cNvSpPr txBox="1"/>
          <p:nvPr/>
        </p:nvSpPr>
        <p:spPr>
          <a:xfrm>
            <a:off x="4619934" y="2791033"/>
            <a:ext cx="823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rPr b="1" i="0" lang="pt-BR" sz="133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D-3</a:t>
            </a:r>
            <a:endParaRPr b="1" i="0" sz="133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3c1f116cfcf_0_0"/>
          <p:cNvSpPr txBox="1"/>
          <p:nvPr/>
        </p:nvSpPr>
        <p:spPr>
          <a:xfrm>
            <a:off x="4619934" y="2688147"/>
            <a:ext cx="823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3"/>
              <a:buFont typeface="Arial"/>
              <a:buNone/>
            </a:pPr>
            <a:r>
              <a:rPr b="0" i="0" lang="pt-BR" sz="951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951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g3c1f116cfcf_0_0"/>
          <p:cNvSpPr/>
          <p:nvPr/>
        </p:nvSpPr>
        <p:spPr>
          <a:xfrm>
            <a:off x="5680021" y="2499145"/>
            <a:ext cx="823500" cy="8235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c1f116cfcf_0_0"/>
          <p:cNvSpPr txBox="1"/>
          <p:nvPr/>
        </p:nvSpPr>
        <p:spPr>
          <a:xfrm>
            <a:off x="5680021" y="2791033"/>
            <a:ext cx="823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rPr b="1" i="0" lang="pt-BR" sz="133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pt-BR" sz="133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-1</a:t>
            </a:r>
            <a:endParaRPr b="1" i="0" sz="133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g3c1f116cfcf_0_0"/>
          <p:cNvSpPr txBox="1"/>
          <p:nvPr/>
        </p:nvSpPr>
        <p:spPr>
          <a:xfrm>
            <a:off x="5680021" y="2688147"/>
            <a:ext cx="823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3"/>
              <a:buFont typeface="Arial"/>
              <a:buNone/>
            </a:pPr>
            <a:r>
              <a:rPr b="0" i="0" lang="pt-BR" sz="951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951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g3c1f116cfcf_0_0"/>
          <p:cNvSpPr/>
          <p:nvPr/>
        </p:nvSpPr>
        <p:spPr>
          <a:xfrm rot="-8100000">
            <a:off x="3303595" y="2822590"/>
            <a:ext cx="173948" cy="173948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c1f116cfcf_0_0"/>
          <p:cNvSpPr/>
          <p:nvPr/>
        </p:nvSpPr>
        <p:spPr>
          <a:xfrm rot="-8100000">
            <a:off x="4363682" y="2822590"/>
            <a:ext cx="173948" cy="173948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c1f116cfcf_0_0"/>
          <p:cNvSpPr/>
          <p:nvPr/>
        </p:nvSpPr>
        <p:spPr>
          <a:xfrm rot="-8100000">
            <a:off x="5423771" y="2822590"/>
            <a:ext cx="173948" cy="173948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c1f116cfcf_0_0"/>
          <p:cNvSpPr/>
          <p:nvPr/>
        </p:nvSpPr>
        <p:spPr>
          <a:xfrm rot="-8100000">
            <a:off x="6483857" y="2822590"/>
            <a:ext cx="173948" cy="173948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g3c1f116cfcf_0_0"/>
          <p:cNvCxnSpPr/>
          <p:nvPr/>
        </p:nvCxnSpPr>
        <p:spPr>
          <a:xfrm rot="10800000">
            <a:off x="2897111" y="3327032"/>
            <a:ext cx="0" cy="390000"/>
          </a:xfrm>
          <a:prstGeom prst="straightConnector1">
            <a:avLst/>
          </a:prstGeom>
          <a:noFill/>
          <a:ln cap="flat" cmpd="sng" w="158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g3c1f116cfcf_0_0"/>
          <p:cNvSpPr txBox="1"/>
          <p:nvPr/>
        </p:nvSpPr>
        <p:spPr>
          <a:xfrm>
            <a:off x="2310592" y="3817066"/>
            <a:ext cx="12018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i="0" lang="pt-BR" sz="761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761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76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Aviso amigável</a:t>
            </a:r>
            <a:endParaRPr b="0" i="0" sz="761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9" name="Google Shape;139;g3c1f116cfcf_0_0"/>
          <p:cNvCxnSpPr/>
          <p:nvPr/>
        </p:nvCxnSpPr>
        <p:spPr>
          <a:xfrm rot="10800000">
            <a:off x="3971413" y="2062345"/>
            <a:ext cx="0" cy="436800"/>
          </a:xfrm>
          <a:prstGeom prst="straightConnector1">
            <a:avLst/>
          </a:prstGeom>
          <a:noFill/>
          <a:ln cap="flat" cmpd="sng" w="158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g3c1f116cfcf_0_0"/>
          <p:cNvSpPr txBox="1"/>
          <p:nvPr/>
        </p:nvSpPr>
        <p:spPr>
          <a:xfrm>
            <a:off x="3370607" y="1532772"/>
            <a:ext cx="12018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"/>
              <a:buFont typeface="Arial"/>
              <a:buNone/>
            </a:pPr>
            <a:r>
              <a:rPr b="1" i="0" lang="pt-BR" sz="761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761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76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Reforço + link</a:t>
            </a:r>
            <a:endParaRPr b="0" i="0" sz="761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1" name="Google Shape;141;g3c1f116cfcf_0_0"/>
          <p:cNvCxnSpPr/>
          <p:nvPr/>
        </p:nvCxnSpPr>
        <p:spPr>
          <a:xfrm rot="10800000">
            <a:off x="5031500" y="3322900"/>
            <a:ext cx="0" cy="436800"/>
          </a:xfrm>
          <a:prstGeom prst="straightConnector1">
            <a:avLst/>
          </a:prstGeom>
          <a:noFill/>
          <a:ln cap="flat" cmpd="sng" w="158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g3c1f116cfcf_0_0"/>
          <p:cNvSpPr txBox="1"/>
          <p:nvPr/>
        </p:nvSpPr>
        <p:spPr>
          <a:xfrm>
            <a:off x="4430694" y="3817066"/>
            <a:ext cx="12018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i="0" lang="pt-BR" sz="761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761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Importância de pagar no prazo</a:t>
            </a:r>
            <a:endParaRPr b="0" i="0" sz="761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3" name="Google Shape;143;g3c1f116cfcf_0_0"/>
          <p:cNvCxnSpPr/>
          <p:nvPr/>
        </p:nvCxnSpPr>
        <p:spPr>
          <a:xfrm rot="10800000">
            <a:off x="6091586" y="2062345"/>
            <a:ext cx="0" cy="436800"/>
          </a:xfrm>
          <a:prstGeom prst="straightConnector1">
            <a:avLst/>
          </a:prstGeom>
          <a:noFill/>
          <a:ln cap="flat" cmpd="sng" w="158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g3c1f116cfcf_0_0"/>
          <p:cNvSpPr txBox="1"/>
          <p:nvPr/>
        </p:nvSpPr>
        <p:spPr>
          <a:xfrm>
            <a:off x="5490781" y="1532772"/>
            <a:ext cx="12018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i="0" lang="pt-BR" sz="761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761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76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Lembrete Curto</a:t>
            </a:r>
            <a:endParaRPr b="0" i="0" sz="761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5" name="Google Shape;145;g3c1f116cfcf_0_0" title="03sssss-0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c1f116cfcf_0_0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5366" y="1131017"/>
            <a:ext cx="129157" cy="134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c1f116cfcf_0_0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7113" y="929914"/>
            <a:ext cx="145683" cy="14568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c1f116cfcf_0_0"/>
          <p:cNvSpPr txBox="1"/>
          <p:nvPr/>
        </p:nvSpPr>
        <p:spPr>
          <a:xfrm>
            <a:off x="7858243" y="918800"/>
            <a:ext cx="883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50375" spcFirstLastPara="1" rIns="503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3"/>
              <a:buFont typeface="Arial"/>
              <a:buNone/>
            </a:pPr>
            <a:r>
              <a:rPr b="0" i="1" lang="pt-BR" sz="494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WhatsApp</a:t>
            </a:r>
            <a:endParaRPr b="0" i="1" sz="33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c1f116cfcf_0_0"/>
          <p:cNvSpPr txBox="1"/>
          <p:nvPr/>
        </p:nvSpPr>
        <p:spPr>
          <a:xfrm>
            <a:off x="7865039" y="1120753"/>
            <a:ext cx="883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50375" spcFirstLastPara="1" rIns="503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3"/>
              <a:buFont typeface="Arial"/>
              <a:buNone/>
            </a:pPr>
            <a:r>
              <a:rPr b="0" i="1" lang="pt-BR" sz="494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E-mail</a:t>
            </a:r>
            <a:endParaRPr b="0" i="1" sz="33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c1f116cfcf_0_0"/>
          <p:cNvSpPr txBox="1"/>
          <p:nvPr/>
        </p:nvSpPr>
        <p:spPr>
          <a:xfrm>
            <a:off x="6197473" y="2076766"/>
            <a:ext cx="196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250" lIns="52250" spcFirstLastPara="1" rIns="52250" wrap="square" tIns="52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"/>
              <a:buFont typeface="Arial"/>
              <a:buNone/>
            </a:pPr>
            <a:r>
              <a:rPr b="1" i="0" lang="pt-BR" sz="1245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DIA DO </a:t>
            </a:r>
            <a:br>
              <a:rPr b="1" i="0" lang="pt-BR" sz="1245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pt-BR" sz="1245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VENCIMENTO</a:t>
            </a:r>
            <a:endParaRPr b="1" i="0" sz="1245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g3c1f116cfcf_0_0"/>
          <p:cNvSpPr txBox="1"/>
          <p:nvPr/>
        </p:nvSpPr>
        <p:spPr>
          <a:xfrm>
            <a:off x="393979" y="147779"/>
            <a:ext cx="5404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Régua de Cobrança</a:t>
            </a:r>
            <a:endParaRPr b="1" i="0" sz="2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g3c1f116cfcf_0_0"/>
          <p:cNvSpPr txBox="1"/>
          <p:nvPr/>
        </p:nvSpPr>
        <p:spPr>
          <a:xfrm>
            <a:off x="425722" y="861367"/>
            <a:ext cx="511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1000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Carteira</a:t>
            </a:r>
            <a:r>
              <a:rPr lang="pt-BR" sz="1000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(s): </a:t>
            </a:r>
            <a:r>
              <a:rPr b="0" i="0" lang="pt-BR" sz="1000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Blips, Ideal</a:t>
            </a:r>
            <a:r>
              <a:rPr lang="pt-BR" sz="1000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, </a:t>
            </a:r>
            <a:r>
              <a:rPr b="0" i="0" lang="pt-BR" sz="1000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FIDC</a:t>
            </a:r>
            <a:r>
              <a:rPr lang="pt-BR" sz="1000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Blips e Finza</a:t>
            </a:r>
            <a:endParaRPr b="0" i="0" sz="1000" u="none" cap="none" strike="noStrike">
              <a:solidFill>
                <a:srgbClr val="7575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3" name="Google Shape;153;g3c1f116cfcf_0_0"/>
          <p:cNvSpPr txBox="1"/>
          <p:nvPr/>
        </p:nvSpPr>
        <p:spPr>
          <a:xfrm>
            <a:off x="425725" y="565806"/>
            <a:ext cx="188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11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Preventivo</a:t>
            </a:r>
            <a:endParaRPr b="0" i="0" sz="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c1f116cfcf_0_0"/>
          <p:cNvSpPr/>
          <p:nvPr/>
        </p:nvSpPr>
        <p:spPr>
          <a:xfrm>
            <a:off x="1439646" y="2499158"/>
            <a:ext cx="823500" cy="8235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c1f116cfcf_0_0"/>
          <p:cNvSpPr txBox="1"/>
          <p:nvPr/>
        </p:nvSpPr>
        <p:spPr>
          <a:xfrm>
            <a:off x="1439646" y="2791046"/>
            <a:ext cx="823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rPr b="1" i="0" lang="pt-BR" sz="133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pt-BR" sz="133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-10</a:t>
            </a:r>
            <a:endParaRPr b="1" i="0" sz="133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3c1f116cfcf_0_0"/>
          <p:cNvSpPr txBox="1"/>
          <p:nvPr/>
        </p:nvSpPr>
        <p:spPr>
          <a:xfrm>
            <a:off x="1439646" y="2688160"/>
            <a:ext cx="823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3"/>
              <a:buFont typeface="Arial"/>
              <a:buNone/>
            </a:pPr>
            <a:r>
              <a:rPr b="0" i="0" lang="pt-BR" sz="951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951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g3c1f116cfcf_0_0"/>
          <p:cNvSpPr/>
          <p:nvPr/>
        </p:nvSpPr>
        <p:spPr>
          <a:xfrm rot="-8100000">
            <a:off x="2243482" y="2822602"/>
            <a:ext cx="173948" cy="173948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g3c1f116cfcf_0_0"/>
          <p:cNvCxnSpPr/>
          <p:nvPr/>
        </p:nvCxnSpPr>
        <p:spPr>
          <a:xfrm rot="10800000">
            <a:off x="1851211" y="2062358"/>
            <a:ext cx="0" cy="436800"/>
          </a:xfrm>
          <a:prstGeom prst="straightConnector1">
            <a:avLst/>
          </a:prstGeom>
          <a:noFill/>
          <a:ln cap="flat" cmpd="sng" w="158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g3c1f116cfcf_0_0"/>
          <p:cNvSpPr txBox="1"/>
          <p:nvPr/>
        </p:nvSpPr>
        <p:spPr>
          <a:xfrm>
            <a:off x="1250406" y="1532785"/>
            <a:ext cx="12018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i="0" lang="pt-BR" sz="761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761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76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Acesso ao portal + organização</a:t>
            </a:r>
            <a:endParaRPr b="0" i="0" sz="761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3c1f116cfcf_0_0"/>
          <p:cNvSpPr/>
          <p:nvPr/>
        </p:nvSpPr>
        <p:spPr>
          <a:xfrm>
            <a:off x="6770647" y="2487993"/>
            <a:ext cx="823500" cy="8235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c1f116cfcf_0_0"/>
          <p:cNvSpPr txBox="1"/>
          <p:nvPr/>
        </p:nvSpPr>
        <p:spPr>
          <a:xfrm>
            <a:off x="6770647" y="2779881"/>
            <a:ext cx="8235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rPr b="1" i="0" lang="pt-BR" sz="133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D-</a:t>
            </a:r>
            <a:r>
              <a:rPr b="1" lang="pt-BR" sz="133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 i="0" sz="133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g3c1f116cfcf_0_0"/>
          <p:cNvSpPr txBox="1"/>
          <p:nvPr/>
        </p:nvSpPr>
        <p:spPr>
          <a:xfrm>
            <a:off x="6770647" y="2676995"/>
            <a:ext cx="823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3"/>
              <a:buFont typeface="Arial"/>
              <a:buNone/>
            </a:pPr>
            <a:r>
              <a:rPr b="0" i="0" lang="pt-BR" sz="951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951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g3c1f116cfcf_0_0"/>
          <p:cNvSpPr/>
          <p:nvPr/>
        </p:nvSpPr>
        <p:spPr>
          <a:xfrm rot="-8100000">
            <a:off x="7574484" y="2811437"/>
            <a:ext cx="173948" cy="173948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t/>
            </a:r>
            <a:endParaRPr b="0" i="0" sz="13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g3c1f116cfcf_0_0"/>
          <p:cNvCxnSpPr/>
          <p:nvPr/>
        </p:nvCxnSpPr>
        <p:spPr>
          <a:xfrm rot="10800000">
            <a:off x="7182213" y="3311748"/>
            <a:ext cx="0" cy="436800"/>
          </a:xfrm>
          <a:prstGeom prst="straightConnector1">
            <a:avLst/>
          </a:prstGeom>
          <a:noFill/>
          <a:ln cap="flat" cmpd="sng" w="158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g3c1f116cfcf_0_0"/>
          <p:cNvSpPr txBox="1"/>
          <p:nvPr/>
        </p:nvSpPr>
        <p:spPr>
          <a:xfrm>
            <a:off x="6707473" y="3748764"/>
            <a:ext cx="12018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075" lIns="87075" spcFirstLastPara="1" rIns="87075" wrap="square" tIns="87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2"/>
              <a:buFont typeface="Arial"/>
              <a:buNone/>
            </a:pPr>
            <a:r>
              <a:rPr b="1" i="0" lang="pt-BR" sz="761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761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761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Data Limite</a:t>
            </a:r>
            <a:endParaRPr b="0" i="0" sz="761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g3c1f116cfcf_0_0"/>
          <p:cNvSpPr/>
          <p:nvPr/>
        </p:nvSpPr>
        <p:spPr>
          <a:xfrm>
            <a:off x="8751649" y="1348931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c1f116cfcf_0_0"/>
          <p:cNvSpPr txBox="1"/>
          <p:nvPr/>
        </p:nvSpPr>
        <p:spPr>
          <a:xfrm>
            <a:off x="7844514" y="1311584"/>
            <a:ext cx="883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50375" spcFirstLastPara="1" rIns="503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3"/>
              <a:buFont typeface="Arial"/>
              <a:buNone/>
            </a:pPr>
            <a:r>
              <a:rPr i="1" lang="pt-BR" sz="494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RCS</a:t>
            </a:r>
            <a:endParaRPr b="0" i="1" sz="33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3c1f116cfcf_0_0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0391" y="1657529"/>
            <a:ext cx="129157" cy="134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c1f116cfcf_0_0"/>
          <p:cNvSpPr/>
          <p:nvPr/>
        </p:nvSpPr>
        <p:spPr>
          <a:xfrm>
            <a:off x="2218806" y="3970825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g3c1f116cfcf_0_0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4938" y="3948102"/>
            <a:ext cx="145683" cy="145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c1f116cfcf_0_0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4416" y="1653854"/>
            <a:ext cx="129157" cy="13453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c1f116cfcf_0_0"/>
          <p:cNvSpPr/>
          <p:nvPr/>
        </p:nvSpPr>
        <p:spPr>
          <a:xfrm>
            <a:off x="5310681" y="1698117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g3c1f116cfcf_0_0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813" y="1675394"/>
            <a:ext cx="145683" cy="145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c1f116cfcf_0_0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741" y="3967350"/>
            <a:ext cx="129157" cy="13453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c1f116cfcf_0_0"/>
          <p:cNvSpPr/>
          <p:nvPr/>
        </p:nvSpPr>
        <p:spPr>
          <a:xfrm>
            <a:off x="3993298" y="3984520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g3c1f116cfcf_0_0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9430" y="3961778"/>
            <a:ext cx="145683" cy="145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c1f116cfcf_0_0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449" y="3943647"/>
            <a:ext cx="129157" cy="13453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c1f116cfcf_0_0"/>
          <p:cNvSpPr/>
          <p:nvPr/>
        </p:nvSpPr>
        <p:spPr>
          <a:xfrm>
            <a:off x="6311006" y="3973333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g3c1f116cfcf_0_0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7138" y="3950609"/>
            <a:ext cx="145683" cy="145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d067584921_0_0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d067584921_0_0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d067584921_0_0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7" name="Google Shape;187;g3d067584921_0_0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Pensando em facilitar sua organização financeira, já disponibilizamos os detalhes dos seus próximos vencimentos.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sua comodidade, o boleto segue anexo a este e-mail.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preferir, você também pode acessar a Plataforma Blips para consultar ou emitir a 2ª via de forma rápida e prática: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não se recorde da sua senha, basta clicar em “Esqueci minha senha” e realizar a redefinição em poucos instantes.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qualquer apoio, nosso time está à disposição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8" name="Google Shape;188;g3d067584921_0_0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Antecipe-se: próximos pagamentos já disponíveis | {{Empresa}}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9" name="Google Shape;189;g3d067584921_0_0"/>
          <p:cNvSpPr txBox="1"/>
          <p:nvPr/>
        </p:nvSpPr>
        <p:spPr>
          <a:xfrm>
            <a:off x="6227022" y="353740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Preventivo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d067584921_0_0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d067584921_0_0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D-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d067584921_0_0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93" name="Google Shape;193;g3d067584921_0_0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94" name="Google Shape;194;g3d067584921_0_0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95" name="Google Shape;195;g3d067584921_0_0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96" name="Google Shape;196;g3d067584921_0_0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97" name="Google Shape;197;g3d067584921_0_0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98" name="Google Shape;198;g3d067584921_0_0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99" name="Google Shape;199;g3d067584921_0_0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00" name="Google Shape;200;g3d067584921_0_0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01" name="Google Shape;201;g3d067584921_0_0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02" name="Google Shape;202;g3d067584921_0_0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03" name="Google Shape;203;g3d067584921_0_0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04" name="Google Shape;204;g3d067584921_0_0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05" name="Google Shape;205;g3d067584921_0_0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06" name="Google Shape;206;g3d067584921_0_0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g3d067584921_0_155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d067584921_0_155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d067584921_0_155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14" name="Google Shape;214;g3d067584921_0_155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15" name="Google Shape;215;g3d067584921_0_155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16" name="Google Shape;216;g3d067584921_0_155"/>
          <p:cNvSpPr txBox="1"/>
          <p:nvPr/>
        </p:nvSpPr>
        <p:spPr>
          <a:xfrm>
            <a:off x="6227022" y="353740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Preventivo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d067584921_0_155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d067584921_0_155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D-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g3d067584921_0_155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20" name="Google Shape;220;g3d067584921_0_155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seu próximo vencimento já está disponível 📄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Vale conferir com antecedência.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21" name="Google Shape;221;g3d067584921_0_155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22" name="Google Shape;222;g3d067584921_0_155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23" name="Google Shape;223;g3d067584921_0_155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24" name="Google Shape;224;g3d067584921_0_155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25" name="Google Shape;225;g3d067584921_0_155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vencimento já pode ser consultado: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Acesse sua conta e se organize com antecedência.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26" name="Google Shape;226;g3d067584921_0_155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27" name="Google Shape;227;g3d067584921_0_155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vencimento já está disponível 📄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vencimento já pode ser consultado: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Acesse sua conta e se organize com antecedência.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28" name="Google Shape;228;g3d067584921_0_155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29" name="Google Shape;229;g3d067584921_0_155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30" name="Google Shape;230;g3d067584921_0_155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31" name="Google Shape;231;g3d067584921_0_155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32" name="Google Shape;232;g3d067584921_0_155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33" name="Google Shape;233;g3d067584921_0_155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3d15892e88b_0_313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d15892e88b_0_313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d15892e88b_0_313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41" name="Google Shape;241;g3d15892e88b_0_313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42" name="Google Shape;242;g3d15892e88b_0_313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43" name="Google Shape;243;g3d15892e88b_0_313"/>
          <p:cNvSpPr txBox="1"/>
          <p:nvPr/>
        </p:nvSpPr>
        <p:spPr>
          <a:xfrm>
            <a:off x="6227022" y="353740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Preventivo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d15892e88b_0_313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d15892e88b_0_313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D-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g3d15892e88b_0_313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47" name="Google Shape;247;g3d15892e88b_0_313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seu contrato já está disponível 📄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Quer ver como acessar?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48" name="Google Shape;248;g3d15892e88b_0_313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49" name="Google Shape;249;g3d15892e88b_0_313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0" name="Google Shape;250;g3d15892e88b_0_313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1" name="Google Shape;251;g3d15892e88b_0_313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2" name="Google Shape;252;g3d15892e88b_0_313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Esse é o início do seu contrato de {{Modalidade do contrato}}.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Você pode acessar sua conta para visualizar tudo com antecedência.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quiser, te orientamos no primeiro acesso.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3" name="Google Shape;253;g3d15892e88b_0_313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4" name="Google Shape;254;g3d15892e88b_0_313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contrato já está disponível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contrato já pode ser consultado: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Acesse sua conta e veja os detalhes com antecedência.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5" name="Google Shape;255;g3d15892e88b_0_313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6" name="Google Shape;256;g3d15892e88b_0_313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7" name="Google Shape;257;g3d15892e88b_0_313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8" name="Google Shape;258;g3d15892e88b_0_313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9" name="Google Shape;259;g3d15892e88b_0_313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60" name="Google Shape;260;g3d15892e88b_0_313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61" name="Google Shape;261;g3d15892e88b_0_313"/>
          <p:cNvSpPr/>
          <p:nvPr/>
        </p:nvSpPr>
        <p:spPr>
          <a:xfrm>
            <a:off x="5580964" y="183349"/>
            <a:ext cx="1193400" cy="170400"/>
          </a:xfrm>
          <a:prstGeom prst="flowChartAlternateProcess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PNP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d067584921_0_207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d067584921_0_207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d067584921_0_207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69" name="Google Shape;269;g3d067584921_0_207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Este é um lembrete de que o seu vencimento está se aproximando.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sua comodidade, o boleto segue anexo a este e-mail.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preferir, você também pode acessar a plataforma para consultar os detalhes ou emitir a 2ª via de forma rápida e prática: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não se recorde da sua senha, basta utilizar a opção “Esqueci minha senha” para redefinição.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tiver qualquer dúvida ou precisar de apoio, nosso time está disponível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0" name="Google Shape;270;g3d067584921_0_207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vencimento {{Empresa}} está se aproximando 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1" name="Google Shape;271;g3d067584921_0_207"/>
          <p:cNvSpPr txBox="1"/>
          <p:nvPr/>
        </p:nvSpPr>
        <p:spPr>
          <a:xfrm>
            <a:off x="6227022" y="353740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Preventivo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d067584921_0_207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d067584921_0_207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D-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g3d067584921_0_207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5" name="Google Shape;275;g3d067584921_0_207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6" name="Google Shape;276;g3d067584921_0_207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7" name="Google Shape;277;g3d067584921_0_207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8" name="Google Shape;278;g3d067584921_0_207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9" name="Google Shape;279;g3d067584921_0_207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80" name="Google Shape;280;g3d067584921_0_207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81" name="Google Shape;281;g3d067584921_0_207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82" name="Google Shape;282;g3d067584921_0_207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83" name="Google Shape;283;g3d067584921_0_207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84" name="Google Shape;284;g3d067584921_0_207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85" name="Google Shape;285;g3d067584921_0_207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86" name="Google Shape;286;g3d067584921_0_207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87" name="Google Shape;287;g3d067584921_0_207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88" name="Google Shape;288;g3d067584921_0_207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g3d067584921_0_235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d067584921_0_235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d067584921_0_235"/>
          <p:cNvSpPr txBox="1"/>
          <p:nvPr/>
        </p:nvSpPr>
        <p:spPr>
          <a:xfrm>
            <a:off x="6227022" y="353740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Preventivo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d067584921_0_235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d067584921_0_235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D-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g3d067584921_0_235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99" name="Google Shape;299;g3d067584921_0_235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seu vencimento está se aproximando ⏰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0" name="Google Shape;300;g3d067584921_0_235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1" name="Google Shape;301;g3d067584921_0_235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2" name="Google Shape;302;g3d067584921_0_235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3" name="Google Shape;303;g3d067584921_0_235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4" name="Google Shape;304;g3d067584921_0_235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Faltam poucos dias para o vencimento: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Acesse sua conta para visualizar e se planejar: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5" name="Google Shape;305;g3d067584921_0_235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6" name="Google Shape;306;g3d067584921_0_235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vencimento está se aproximando ⏰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Faltam poucos dias para o vencimento: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Confira os detalhes e se planeje com tranquilidade.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7" name="Google Shape;307;g3d067584921_0_235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8" name="Google Shape;308;g3d067584921_0_235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09" name="Google Shape;309;g3d067584921_0_235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10" name="Google Shape;310;g3d067584921_0_235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11" name="Google Shape;311;g3d067584921_0_235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12" name="Google Shape;312;g3d067584921_0_235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13" name="Google Shape;313;g3d067584921_0_235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14" name="Google Shape;314;g3d067584921_0_235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vencimento está se aproximando. Se antecipar na organização é uma forma simples de manter tudo sob controle e evitar imprevistos.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sua comodidade, o boleto segue anexo a este e-mail.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preferir, você também pode acessar a plataforma para consultar os detalhes ou emitir a 2ª via de forma rápida e prática: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não se recorde da sua senha, basta utilizar a opção “Esqueci minha senha” para redefinição.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qualquer apoio, nosso time está à disposição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15" name="Google Shape;315;g3d067584921_0_235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{{Empresa}} | Seu vencimento está próximo — organize-se com antecedência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g3d15892e88b_0_340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g3d15892e88b_0_340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d15892e88b_0_340"/>
          <p:cNvSpPr txBox="1"/>
          <p:nvPr/>
        </p:nvSpPr>
        <p:spPr>
          <a:xfrm>
            <a:off x="6227022" y="353740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Preventivo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d15892e88b_0_340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d15892e88b_0_340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D-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g3d15892e88b_0_340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26" name="Google Shape;326;g3d15892e88b_0_340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seu primeiro vencimento está chegando ⏰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27" name="Google Shape;327;g3d15892e88b_0_340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28" name="Google Shape;328;g3d15892e88b_0_340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29" name="Google Shape;329;g3d15892e88b_0_340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30" name="Google Shape;330;g3d15892e88b_0_340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31" name="Google Shape;331;g3d15892e88b_0_340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primeiro vencimento está próximo.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Acesse sua conta para ver os detalhes e se organizar.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32" name="Google Shape;332;g3d15892e88b_0_340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33" name="Google Shape;333;g3d15892e88b_0_340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primeiro vencimento está próximo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Faltam poucos dias para o primeiro vencimento: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Confira os detalhes na sua conta.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34" name="Google Shape;334;g3d15892e88b_0_340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35" name="Google Shape;335;g3d15892e88b_0_340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36" name="Google Shape;336;g3d15892e88b_0_340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37" name="Google Shape;337;g3d15892e88b_0_340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38" name="Google Shape;338;g3d15892e88b_0_340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39" name="Google Shape;339;g3d15892e88b_0_340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40" name="Google Shape;340;g3d15892e88b_0_340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41" name="Google Shape;341;g3d15892e88b_0_340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vencimento está se aproximando. Se antecipar na organização é uma forma simples de manter tudo sob controle e evitar imprevistos.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sua comodidade, o boleto segue anexo a este e-mail.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preferir, você também pode acessar a plataforma para consultar os detalhes ou emitir a 2ª via de forma rápida e prática: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não se recorde da sua senha, basta utilizar a opção “Esqueci minha senha” para redefinição.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qualquer apoio, nosso time está à disposição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42" name="Google Shape;342;g3d15892e88b_0_340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| Seu vencimento está próximo — organize-se com antecedência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43" name="Google Shape;343;g3d15892e88b_0_340"/>
          <p:cNvSpPr/>
          <p:nvPr/>
        </p:nvSpPr>
        <p:spPr>
          <a:xfrm>
            <a:off x="5580964" y="183349"/>
            <a:ext cx="1193400" cy="170400"/>
          </a:xfrm>
          <a:prstGeom prst="flowChartAlternateProcess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PNP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g3d067584921_0_263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d067584921_0_263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d067584921_0_263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51" name="Google Shape;351;g3d067584921_0_263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52" name="Google Shape;352;g3d067584921_0_263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53" name="Google Shape;353;g3d067584921_0_263"/>
          <p:cNvSpPr txBox="1"/>
          <p:nvPr/>
        </p:nvSpPr>
        <p:spPr>
          <a:xfrm>
            <a:off x="6227022" y="353740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Preventivo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d067584921_0_263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d067584921_0_263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D-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g3d067584921_0_263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57" name="Google Shape;357;g3d067584921_0_263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é amanhã 📅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Já pode deixar tudo organizado.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58" name="Google Shape;358;g3d067584921_0_263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59" name="Google Shape;359;g3d067584921_0_263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60" name="Google Shape;360;g3d067584921_0_263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61" name="Google Shape;361;g3d067584921_0_263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62" name="Google Shape;362;g3d067584921_0_263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vencimento é amanhã: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Você pode antecipar e resolver de forma rápida pela sua conta.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63" name="Google Shape;363;g3d067584921_0_263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64" name="Google Shape;364;g3d067584921_0_263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É amanhã ⏰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vencimento é amanhã: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Você já pode deixar tudo organizado.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65" name="Google Shape;365;g3d067584921_0_263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66" name="Google Shape;366;g3d067584921_0_263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67" name="Google Shape;367;g3d067584921_0_263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68" name="Google Shape;368;g3d067584921_0_263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69" name="Google Shape;369;g3d067584921_0_263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70" name="Google Shape;370;g3d067584921_0_263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g3d15892e88b_0_393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g3d15892e88b_0_393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d15892e88b_0_393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78" name="Google Shape;378;g3d15892e88b_0_393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79" name="Google Shape;379;g3d15892e88b_0_393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80" name="Google Shape;380;g3d15892e88b_0_393"/>
          <p:cNvSpPr txBox="1"/>
          <p:nvPr/>
        </p:nvSpPr>
        <p:spPr>
          <a:xfrm>
            <a:off x="6227022" y="353740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Preventivo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d15892e88b_0_393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d15892e88b_0_393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D-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g3d15892e88b_0_393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84" name="Google Shape;384;g3d15892e88b_0_393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é amanhã 📅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Podemos te ajudar a acessar?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85" name="Google Shape;385;g3d15892e88b_0_393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86" name="Google Shape;386;g3d15892e88b_0_393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87" name="Google Shape;387;g3d15892e88b_0_393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88" name="Google Shape;388;g3d15892e88b_0_393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89" name="Google Shape;389;g3d15892e88b_0_393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primeiro vencimento é amanhã.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precisar, te orientamos passo a passo.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90" name="Google Shape;390;g3d15892e88b_0_393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91" name="Google Shape;391;g3d15892e88b_0_393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É amanhã ⏰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vencimento é amanhã: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Você já pode deixar tudo organizado.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92" name="Google Shape;392;g3d15892e88b_0_393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93" name="Google Shape;393;g3d15892e88b_0_393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94" name="Google Shape;394;g3d15892e88b_0_393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95" name="Google Shape;395;g3d15892e88b_0_393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96" name="Google Shape;396;g3d15892e88b_0_393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97" name="Google Shape;397;g3d15892e88b_0_393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398" name="Google Shape;398;g3d15892e88b_0_393"/>
          <p:cNvSpPr/>
          <p:nvPr/>
        </p:nvSpPr>
        <p:spPr>
          <a:xfrm>
            <a:off x="5580964" y="183349"/>
            <a:ext cx="1193400" cy="170400"/>
          </a:xfrm>
          <a:prstGeom prst="flowChartAlternateProcess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PNP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g3d067584921_0_294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d067584921_0_294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d067584921_0_294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06" name="Google Shape;406;g3d067584921_0_294"/>
          <p:cNvSpPr txBox="1"/>
          <p:nvPr/>
        </p:nvSpPr>
        <p:spPr>
          <a:xfrm>
            <a:off x="6227022" y="353740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Preventivo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d067584921_0_294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d067584921_0_294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D-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g3d067584921_0_294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10" name="Google Shape;410;g3d067584921_0_294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hoje é o vencimento 📅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11" name="Google Shape;411;g3d067584921_0_294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12" name="Google Shape;412;g3d067584921_0_294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13" name="Google Shape;413;g3d067584921_0_294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14" name="Google Shape;414;g3d067584921_0_294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15" name="Google Shape;415;g3d067584921_0_294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Hoje é a data do vencimento: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nos envie o comprovante para agilizarmos a baixa em sistema. 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16" name="Google Shape;416;g3d067584921_0_294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17" name="Google Shape;417;g3d067584921_0_294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Hoje é o vencimento 📅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Hoje é a data do vencimento: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realizado, pode desconsiderar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18" name="Google Shape;418;g3d067584921_0_294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19" name="Google Shape;419;g3d067584921_0_294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20" name="Google Shape;420;g3d067584921_0_294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21" name="Google Shape;421;g3d067584921_0_294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22" name="Google Shape;422;g3d067584921_0_294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23" name="Google Shape;423;g3d067584921_0_294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24" name="Google Shape;424;g3d067584921_0_294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 hoje é a data de vencimento do seu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garantir o funcionamento contínuo do seu equipamento, o pagamento pode ser realizado hoje de forma simples, por meio de toda a rede bancária disponível.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boleto segue anexo para facilitar.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preferir, acesse a plataforma para consultar ou emitir a 2ª via: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não lembre sua senha, utilize a opção “Esqueci minha senha”.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já realizou o pagamento, pedimos que desconsidere este aviso ou, se preferir, nos envie o comprovante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25" name="Google Shape;425;g3d067584921_0_294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Hoje é o vencimento do seu contrato {{Empresa}}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g3d15892e88b_0_420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g3d15892e88b_0_420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d15892e88b_0_420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33" name="Google Shape;433;g3d15892e88b_0_420"/>
          <p:cNvSpPr txBox="1"/>
          <p:nvPr/>
        </p:nvSpPr>
        <p:spPr>
          <a:xfrm>
            <a:off x="6227022" y="353740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Preventivo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d15892e88b_0_420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d15892e88b_0_420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D-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g3d15892e88b_0_420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37" name="Google Shape;437;g3d15892e88b_0_420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hoje é o seu primeiro vencimento 📅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38" name="Google Shape;438;g3d15892e88b_0_420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39" name="Google Shape;439;g3d15892e88b_0_420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40" name="Google Shape;440;g3d15892e88b_0_420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41" name="Google Shape;441;g3d15892e88b_0_420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42" name="Google Shape;442;g3d15892e88b_0_420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Hoje é o primeiro vencimento do seu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realizado, pode desconsiderar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43" name="Google Shape;443;g3d15892e88b_0_420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44" name="Google Shape;444;g3d15892e88b_0_420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Hoje é o vencimento 📅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Hoje é o primeiro vencimento: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realizado, pode desconsiderar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45" name="Google Shape;445;g3d15892e88b_0_420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46" name="Google Shape;446;g3d15892e88b_0_420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47" name="Google Shape;447;g3d15892e88b_0_420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48" name="Google Shape;448;g3d15892e88b_0_420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49" name="Google Shape;449;g3d15892e88b_0_420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50" name="Google Shape;450;g3d15892e88b_0_420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51" name="Google Shape;451;g3d15892e88b_0_420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 hoje é a data de vencimento do seu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garantir o funcionamento contínuo do seu equipamento, o pagamento pode ser realizado hoje de forma simples, por meio de toda a rede bancária disponível.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boleto segue anexo para facilitar.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preferir, acesse a plataforma para consultar ou emitir a 2ª via: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não lembre sua senha, utilize a opção “Esqueci minha senha”.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já realizou o pagamento, pedimos que desconsidere este aviso ou, se preferir, nos envie o comprovante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52" name="Google Shape;452;g3d15892e88b_0_420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Hoje é o vencimento do seu contrato {{Empresa}}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453" name="Google Shape;453;g3d15892e88b_0_420"/>
          <p:cNvSpPr/>
          <p:nvPr/>
        </p:nvSpPr>
        <p:spPr>
          <a:xfrm>
            <a:off x="5580964" y="183349"/>
            <a:ext cx="1193400" cy="170400"/>
          </a:xfrm>
          <a:prstGeom prst="flowChartAlternateProcess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PNP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0c93173ad_0_213"/>
          <p:cNvSpPr/>
          <p:nvPr/>
        </p:nvSpPr>
        <p:spPr>
          <a:xfrm>
            <a:off x="523254" y="1719639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b0c93173ad_0_213"/>
          <p:cNvSpPr txBox="1"/>
          <p:nvPr/>
        </p:nvSpPr>
        <p:spPr>
          <a:xfrm>
            <a:off x="523254" y="1913169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D+3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g3b0c93173ad_0_213"/>
          <p:cNvSpPr txBox="1"/>
          <p:nvPr/>
        </p:nvSpPr>
        <p:spPr>
          <a:xfrm>
            <a:off x="523254" y="1844953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g3b0c93173ad_0_213"/>
          <p:cNvSpPr/>
          <p:nvPr/>
        </p:nvSpPr>
        <p:spPr>
          <a:xfrm>
            <a:off x="1226118" y="1719639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b0c93173ad_0_213"/>
          <p:cNvSpPr txBox="1"/>
          <p:nvPr/>
        </p:nvSpPr>
        <p:spPr>
          <a:xfrm>
            <a:off x="1226118" y="1913169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D+5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g3b0c93173ad_0_213"/>
          <p:cNvSpPr txBox="1"/>
          <p:nvPr/>
        </p:nvSpPr>
        <p:spPr>
          <a:xfrm>
            <a:off x="1226118" y="1844953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g3b0c93173ad_0_213"/>
          <p:cNvSpPr/>
          <p:nvPr/>
        </p:nvSpPr>
        <p:spPr>
          <a:xfrm>
            <a:off x="1928982" y="1719639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b0c93173ad_0_213"/>
          <p:cNvSpPr txBox="1"/>
          <p:nvPr/>
        </p:nvSpPr>
        <p:spPr>
          <a:xfrm>
            <a:off x="1928982" y="1913169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D+8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g3b0c93173ad_0_213"/>
          <p:cNvSpPr txBox="1"/>
          <p:nvPr/>
        </p:nvSpPr>
        <p:spPr>
          <a:xfrm>
            <a:off x="1928982" y="1844953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g3b0c93173ad_0_213"/>
          <p:cNvSpPr/>
          <p:nvPr/>
        </p:nvSpPr>
        <p:spPr>
          <a:xfrm>
            <a:off x="2631846" y="1719639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b0c93173ad_0_213"/>
          <p:cNvSpPr txBox="1"/>
          <p:nvPr/>
        </p:nvSpPr>
        <p:spPr>
          <a:xfrm>
            <a:off x="2631846" y="1913169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D+11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g3b0c93173ad_0_213"/>
          <p:cNvSpPr txBox="1"/>
          <p:nvPr/>
        </p:nvSpPr>
        <p:spPr>
          <a:xfrm>
            <a:off x="2631846" y="1844953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g3b0c93173ad_0_213"/>
          <p:cNvSpPr/>
          <p:nvPr/>
        </p:nvSpPr>
        <p:spPr>
          <a:xfrm rot="-8100000">
            <a:off x="1056184" y="1934011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b0c93173ad_0_213"/>
          <p:cNvSpPr/>
          <p:nvPr/>
        </p:nvSpPr>
        <p:spPr>
          <a:xfrm rot="-8100000">
            <a:off x="1759048" y="1934011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b0c93173ad_0_213"/>
          <p:cNvSpPr/>
          <p:nvPr/>
        </p:nvSpPr>
        <p:spPr>
          <a:xfrm rot="-8100000">
            <a:off x="2461911" y="1934011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b0c93173ad_0_213"/>
          <p:cNvSpPr txBox="1"/>
          <p:nvPr/>
        </p:nvSpPr>
        <p:spPr>
          <a:xfrm>
            <a:off x="1100647" y="2539292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Bloqueio  próximo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g3b0c93173ad_0_213"/>
          <p:cNvSpPr txBox="1"/>
          <p:nvPr/>
        </p:nvSpPr>
        <p:spPr>
          <a:xfrm>
            <a:off x="2506375" y="2539292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Bloqueio Definitivo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g3b0c93173ad_0_213"/>
          <p:cNvSpPr txBox="1"/>
          <p:nvPr/>
        </p:nvSpPr>
        <p:spPr>
          <a:xfrm>
            <a:off x="397784" y="1078906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Pagamento não identificado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g3b0c93173ad_0_213"/>
          <p:cNvSpPr txBox="1"/>
          <p:nvPr/>
        </p:nvSpPr>
        <p:spPr>
          <a:xfrm>
            <a:off x="1803511" y="1078906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Equipamento Bloqueado Temporariamente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7" name="Google Shape;477;g3b0c93173ad_0_213" title="03sssss-0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b0c93173ad_0_213"/>
          <p:cNvSpPr/>
          <p:nvPr/>
        </p:nvSpPr>
        <p:spPr>
          <a:xfrm>
            <a:off x="3322519" y="1710152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b0c93173ad_0_213"/>
          <p:cNvSpPr txBox="1"/>
          <p:nvPr/>
        </p:nvSpPr>
        <p:spPr>
          <a:xfrm>
            <a:off x="3322519" y="1903683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D+1</a:t>
            </a:r>
            <a:r>
              <a:rPr b="1" lang="pt-BR" sz="88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g3b0c93173ad_0_213"/>
          <p:cNvSpPr txBox="1"/>
          <p:nvPr/>
        </p:nvSpPr>
        <p:spPr>
          <a:xfrm>
            <a:off x="3322519" y="1835465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g3b0c93173ad_0_213"/>
          <p:cNvSpPr/>
          <p:nvPr/>
        </p:nvSpPr>
        <p:spPr>
          <a:xfrm>
            <a:off x="4025382" y="1710152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b0c93173ad_0_213"/>
          <p:cNvSpPr txBox="1"/>
          <p:nvPr/>
        </p:nvSpPr>
        <p:spPr>
          <a:xfrm>
            <a:off x="4025382" y="1903683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</a:t>
            </a:r>
            <a:r>
              <a:rPr b="1" lang="pt-BR" sz="88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g3b0c93173ad_0_213"/>
          <p:cNvSpPr txBox="1"/>
          <p:nvPr/>
        </p:nvSpPr>
        <p:spPr>
          <a:xfrm>
            <a:off x="4025382" y="1835465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g3b0c93173ad_0_213"/>
          <p:cNvSpPr/>
          <p:nvPr/>
        </p:nvSpPr>
        <p:spPr>
          <a:xfrm rot="-8100000">
            <a:off x="3152583" y="1924523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b0c93173ad_0_213"/>
          <p:cNvSpPr/>
          <p:nvPr/>
        </p:nvSpPr>
        <p:spPr>
          <a:xfrm rot="-8100000">
            <a:off x="3855447" y="1924523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b0c93173ad_0_213"/>
          <p:cNvSpPr txBox="1"/>
          <p:nvPr/>
        </p:nvSpPr>
        <p:spPr>
          <a:xfrm>
            <a:off x="3899913" y="2529797"/>
            <a:ext cx="7968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Action: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Notificação Extrajudicial por E-mail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g3b0c93173ad_0_213"/>
          <p:cNvSpPr txBox="1"/>
          <p:nvPr/>
        </p:nvSpPr>
        <p:spPr>
          <a:xfrm>
            <a:off x="3197048" y="1069419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Equipamento parado não gera receita!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g3b0c93173ad_0_213"/>
          <p:cNvSpPr/>
          <p:nvPr/>
        </p:nvSpPr>
        <p:spPr>
          <a:xfrm>
            <a:off x="4715128" y="1706718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b0c93173ad_0_213"/>
          <p:cNvSpPr txBox="1"/>
          <p:nvPr/>
        </p:nvSpPr>
        <p:spPr>
          <a:xfrm>
            <a:off x="4715128" y="1900248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</a:t>
            </a:r>
            <a:r>
              <a:rPr b="1" lang="pt-BR" sz="88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g3b0c93173ad_0_213"/>
          <p:cNvSpPr txBox="1"/>
          <p:nvPr/>
        </p:nvSpPr>
        <p:spPr>
          <a:xfrm>
            <a:off x="4715128" y="1832032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g3b0c93173ad_0_213"/>
          <p:cNvSpPr/>
          <p:nvPr/>
        </p:nvSpPr>
        <p:spPr>
          <a:xfrm>
            <a:off x="5417991" y="1706718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b0c93173ad_0_213"/>
          <p:cNvSpPr txBox="1"/>
          <p:nvPr/>
        </p:nvSpPr>
        <p:spPr>
          <a:xfrm>
            <a:off x="5417991" y="1900248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</a:t>
            </a:r>
            <a:r>
              <a:rPr b="1" lang="pt-BR" sz="88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g3b0c93173ad_0_213"/>
          <p:cNvSpPr txBox="1"/>
          <p:nvPr/>
        </p:nvSpPr>
        <p:spPr>
          <a:xfrm>
            <a:off x="5417991" y="1832032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4" name="Google Shape;494;g3b0c93173ad_0_213"/>
          <p:cNvSpPr/>
          <p:nvPr/>
        </p:nvSpPr>
        <p:spPr>
          <a:xfrm rot="-8100000">
            <a:off x="4545193" y="1921090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b0c93173ad_0_213"/>
          <p:cNvSpPr/>
          <p:nvPr/>
        </p:nvSpPr>
        <p:spPr>
          <a:xfrm rot="-8100000">
            <a:off x="5248057" y="1921090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b0c93173ad_0_213"/>
          <p:cNvSpPr txBox="1"/>
          <p:nvPr/>
        </p:nvSpPr>
        <p:spPr>
          <a:xfrm>
            <a:off x="5260775" y="2565725"/>
            <a:ext cx="883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Os desafios do empreendedorismo e o essencial para continuidade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g3b0c93173ad_0_213"/>
          <p:cNvSpPr txBox="1"/>
          <p:nvPr/>
        </p:nvSpPr>
        <p:spPr>
          <a:xfrm>
            <a:off x="4589661" y="1007261"/>
            <a:ext cx="7968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Opções Disponíveis de negociação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g3b0c93173ad_0_213"/>
          <p:cNvSpPr/>
          <p:nvPr/>
        </p:nvSpPr>
        <p:spPr>
          <a:xfrm>
            <a:off x="6811528" y="1697231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b0c93173ad_0_213"/>
          <p:cNvSpPr txBox="1"/>
          <p:nvPr/>
        </p:nvSpPr>
        <p:spPr>
          <a:xfrm>
            <a:off x="6108665" y="1890762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D+50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g3b0c93173ad_0_213"/>
          <p:cNvSpPr txBox="1"/>
          <p:nvPr/>
        </p:nvSpPr>
        <p:spPr>
          <a:xfrm>
            <a:off x="6108665" y="1822545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g3b0c93173ad_0_213"/>
          <p:cNvSpPr txBox="1"/>
          <p:nvPr/>
        </p:nvSpPr>
        <p:spPr>
          <a:xfrm>
            <a:off x="6811528" y="1890762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</a:t>
            </a:r>
            <a:r>
              <a:rPr b="1" lang="pt-BR" sz="88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g3b0c93173ad_0_213"/>
          <p:cNvSpPr txBox="1"/>
          <p:nvPr/>
        </p:nvSpPr>
        <p:spPr>
          <a:xfrm>
            <a:off x="6811528" y="1822545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g3b0c93173ad_0_213"/>
          <p:cNvSpPr/>
          <p:nvPr/>
        </p:nvSpPr>
        <p:spPr>
          <a:xfrm rot="-8100000">
            <a:off x="6641594" y="1911604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b0c93173ad_0_213"/>
          <p:cNvSpPr/>
          <p:nvPr/>
        </p:nvSpPr>
        <p:spPr>
          <a:xfrm rot="-8100000">
            <a:off x="5938730" y="1911604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b0c93173ad_0_213"/>
          <p:cNvSpPr txBox="1"/>
          <p:nvPr/>
        </p:nvSpPr>
        <p:spPr>
          <a:xfrm>
            <a:off x="6686058" y="2556244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Negativação Serasa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g3b0c93173ad_0_213"/>
          <p:cNvSpPr/>
          <p:nvPr/>
        </p:nvSpPr>
        <p:spPr>
          <a:xfrm>
            <a:off x="6108665" y="1697231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b0c93173ad_0_213"/>
          <p:cNvSpPr txBox="1"/>
          <p:nvPr/>
        </p:nvSpPr>
        <p:spPr>
          <a:xfrm>
            <a:off x="5982248" y="1054960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Penalidades e encargos adicionais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g3b0c93173ad_0_213"/>
          <p:cNvSpPr txBox="1"/>
          <p:nvPr/>
        </p:nvSpPr>
        <p:spPr>
          <a:xfrm>
            <a:off x="6114100" y="1896766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</a:t>
            </a:r>
            <a:r>
              <a:rPr b="1" lang="pt-BR" sz="88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g3b0c93173ad_0_213"/>
          <p:cNvSpPr txBox="1"/>
          <p:nvPr/>
        </p:nvSpPr>
        <p:spPr>
          <a:xfrm>
            <a:off x="6114100" y="1828549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g3b0c93173ad_0_213"/>
          <p:cNvSpPr/>
          <p:nvPr/>
        </p:nvSpPr>
        <p:spPr>
          <a:xfrm>
            <a:off x="1909551" y="3692658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b0c93173ad_0_213"/>
          <p:cNvSpPr txBox="1"/>
          <p:nvPr/>
        </p:nvSpPr>
        <p:spPr>
          <a:xfrm>
            <a:off x="1909551" y="3886189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D+4</a:t>
            </a:r>
            <a:r>
              <a:rPr b="1" lang="pt-BR" sz="88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g3b0c93173ad_0_213"/>
          <p:cNvSpPr txBox="1"/>
          <p:nvPr/>
        </p:nvSpPr>
        <p:spPr>
          <a:xfrm>
            <a:off x="1909551" y="3817973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g3b0c93173ad_0_213"/>
          <p:cNvSpPr/>
          <p:nvPr/>
        </p:nvSpPr>
        <p:spPr>
          <a:xfrm>
            <a:off x="2612415" y="3692658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b0c93173ad_0_213"/>
          <p:cNvSpPr txBox="1"/>
          <p:nvPr/>
        </p:nvSpPr>
        <p:spPr>
          <a:xfrm>
            <a:off x="2612415" y="3886189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D+50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g3b0c93173ad_0_213"/>
          <p:cNvSpPr txBox="1"/>
          <p:nvPr/>
        </p:nvSpPr>
        <p:spPr>
          <a:xfrm>
            <a:off x="2612415" y="3817973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g3b0c93173ad_0_213"/>
          <p:cNvSpPr/>
          <p:nvPr/>
        </p:nvSpPr>
        <p:spPr>
          <a:xfrm>
            <a:off x="3315278" y="3692658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b0c93173ad_0_213"/>
          <p:cNvSpPr txBox="1"/>
          <p:nvPr/>
        </p:nvSpPr>
        <p:spPr>
          <a:xfrm>
            <a:off x="3315278" y="3886189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D+55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g3b0c93173ad_0_213"/>
          <p:cNvSpPr txBox="1"/>
          <p:nvPr/>
        </p:nvSpPr>
        <p:spPr>
          <a:xfrm>
            <a:off x="3315278" y="3817973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g3b0c93173ad_0_213"/>
          <p:cNvSpPr/>
          <p:nvPr/>
        </p:nvSpPr>
        <p:spPr>
          <a:xfrm>
            <a:off x="4018142" y="3692658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3b0c93173ad_0_213"/>
          <p:cNvSpPr txBox="1"/>
          <p:nvPr/>
        </p:nvSpPr>
        <p:spPr>
          <a:xfrm>
            <a:off x="4018142" y="3886189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D+6</a:t>
            </a:r>
            <a:r>
              <a:rPr b="1" lang="pt-BR" sz="88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g3b0c93173ad_0_213"/>
          <p:cNvSpPr txBox="1"/>
          <p:nvPr/>
        </p:nvSpPr>
        <p:spPr>
          <a:xfrm>
            <a:off x="4018142" y="3817973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g3b0c93173ad_0_213"/>
          <p:cNvSpPr/>
          <p:nvPr/>
        </p:nvSpPr>
        <p:spPr>
          <a:xfrm rot="-8100000">
            <a:off x="2442481" y="3907031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b0c93173ad_0_213"/>
          <p:cNvSpPr/>
          <p:nvPr/>
        </p:nvSpPr>
        <p:spPr>
          <a:xfrm rot="-8100000">
            <a:off x="3145344" y="3907031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b0c93173ad_0_213"/>
          <p:cNvSpPr/>
          <p:nvPr/>
        </p:nvSpPr>
        <p:spPr>
          <a:xfrm rot="-8100000">
            <a:off x="3848208" y="3907031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b0c93173ad_0_213"/>
          <p:cNvSpPr txBox="1"/>
          <p:nvPr/>
        </p:nvSpPr>
        <p:spPr>
          <a:xfrm>
            <a:off x="2431787" y="4542750"/>
            <a:ext cx="938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Opções Disponíveis de negociação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g3b0c93173ad_0_213"/>
          <p:cNvSpPr txBox="1"/>
          <p:nvPr/>
        </p:nvSpPr>
        <p:spPr>
          <a:xfrm>
            <a:off x="3892672" y="4542742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Notificação Extrajudicial por Correio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g3b0c93173ad_0_213"/>
          <p:cNvSpPr txBox="1"/>
          <p:nvPr/>
        </p:nvSpPr>
        <p:spPr>
          <a:xfrm>
            <a:off x="1784080" y="3051925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Protesto em Cartório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g3b0c93173ad_0_213"/>
          <p:cNvSpPr txBox="1"/>
          <p:nvPr/>
        </p:nvSpPr>
        <p:spPr>
          <a:xfrm>
            <a:off x="3209861" y="3051925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Regularize o pagamento e evite cobranças adicionais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9" name="Google Shape;529;g3b0c93173ad_0_213"/>
          <p:cNvSpPr/>
          <p:nvPr/>
        </p:nvSpPr>
        <p:spPr>
          <a:xfrm>
            <a:off x="4708815" y="3683171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b0c93173ad_0_213"/>
          <p:cNvSpPr txBox="1"/>
          <p:nvPr/>
        </p:nvSpPr>
        <p:spPr>
          <a:xfrm>
            <a:off x="4708815" y="3876702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D+65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g3b0c93173ad_0_213"/>
          <p:cNvSpPr txBox="1"/>
          <p:nvPr/>
        </p:nvSpPr>
        <p:spPr>
          <a:xfrm>
            <a:off x="4708815" y="3808485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g3b0c93173ad_0_213"/>
          <p:cNvSpPr/>
          <p:nvPr/>
        </p:nvSpPr>
        <p:spPr>
          <a:xfrm>
            <a:off x="5411679" y="3683171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b0c93173ad_0_213"/>
          <p:cNvSpPr txBox="1"/>
          <p:nvPr/>
        </p:nvSpPr>
        <p:spPr>
          <a:xfrm>
            <a:off x="5411679" y="3876702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D+70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g3b0c93173ad_0_213"/>
          <p:cNvSpPr txBox="1"/>
          <p:nvPr/>
        </p:nvSpPr>
        <p:spPr>
          <a:xfrm>
            <a:off x="5411679" y="3808485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g3b0c93173ad_0_213"/>
          <p:cNvSpPr/>
          <p:nvPr/>
        </p:nvSpPr>
        <p:spPr>
          <a:xfrm rot="-8100000">
            <a:off x="4538880" y="3897543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b0c93173ad_0_213"/>
          <p:cNvSpPr/>
          <p:nvPr/>
        </p:nvSpPr>
        <p:spPr>
          <a:xfrm rot="-8100000">
            <a:off x="5241744" y="3897543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b0c93173ad_0_213"/>
          <p:cNvSpPr txBox="1"/>
          <p:nvPr/>
        </p:nvSpPr>
        <p:spPr>
          <a:xfrm>
            <a:off x="5302423" y="4533247"/>
            <a:ext cx="7968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Action: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 tempo está acabando! Regularize suas pendências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g3b0c93173ad_0_213"/>
          <p:cNvSpPr txBox="1"/>
          <p:nvPr/>
        </p:nvSpPr>
        <p:spPr>
          <a:xfrm>
            <a:off x="4583345" y="3042438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Saúde Financeira e manutenção do contrato ativo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g3b0c93173ad_0_213"/>
          <p:cNvSpPr/>
          <p:nvPr/>
        </p:nvSpPr>
        <p:spPr>
          <a:xfrm>
            <a:off x="6101424" y="3679737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b0c93173ad_0_213"/>
          <p:cNvSpPr txBox="1"/>
          <p:nvPr/>
        </p:nvSpPr>
        <p:spPr>
          <a:xfrm>
            <a:off x="6101424" y="3873268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D+75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1" name="Google Shape;541;g3b0c93173ad_0_213"/>
          <p:cNvSpPr txBox="1"/>
          <p:nvPr/>
        </p:nvSpPr>
        <p:spPr>
          <a:xfrm>
            <a:off x="6101424" y="3805052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g3b0c93173ad_0_213"/>
          <p:cNvSpPr/>
          <p:nvPr/>
        </p:nvSpPr>
        <p:spPr>
          <a:xfrm>
            <a:off x="6804288" y="3679737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b0c93173ad_0_213"/>
          <p:cNvSpPr txBox="1"/>
          <p:nvPr/>
        </p:nvSpPr>
        <p:spPr>
          <a:xfrm>
            <a:off x="6804288" y="3873268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D+80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g3b0c93173ad_0_213"/>
          <p:cNvSpPr txBox="1"/>
          <p:nvPr/>
        </p:nvSpPr>
        <p:spPr>
          <a:xfrm>
            <a:off x="6804288" y="3805052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5" name="Google Shape;545;g3b0c93173ad_0_213"/>
          <p:cNvSpPr/>
          <p:nvPr/>
        </p:nvSpPr>
        <p:spPr>
          <a:xfrm rot="-8100000">
            <a:off x="5931490" y="3894110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b0c93173ad_0_213"/>
          <p:cNvSpPr/>
          <p:nvPr/>
        </p:nvSpPr>
        <p:spPr>
          <a:xfrm rot="-8100000">
            <a:off x="6634354" y="3894110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b0c93173ad_0_213"/>
          <p:cNvSpPr txBox="1"/>
          <p:nvPr/>
        </p:nvSpPr>
        <p:spPr>
          <a:xfrm>
            <a:off x="6630177" y="4550304"/>
            <a:ext cx="952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Consequências iminentes (cancelamento)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g3b0c93173ad_0_213"/>
          <p:cNvSpPr txBox="1"/>
          <p:nvPr/>
        </p:nvSpPr>
        <p:spPr>
          <a:xfrm>
            <a:off x="5975958" y="3038997"/>
            <a:ext cx="7968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Opções Disponíveis de negociação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g3b0c93173ad_0_213"/>
          <p:cNvSpPr/>
          <p:nvPr/>
        </p:nvSpPr>
        <p:spPr>
          <a:xfrm>
            <a:off x="8197825" y="3670251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b0c93173ad_0_213"/>
          <p:cNvSpPr txBox="1"/>
          <p:nvPr/>
        </p:nvSpPr>
        <p:spPr>
          <a:xfrm>
            <a:off x="7494961" y="3863781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D+50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g3b0c93173ad_0_213"/>
          <p:cNvSpPr txBox="1"/>
          <p:nvPr/>
        </p:nvSpPr>
        <p:spPr>
          <a:xfrm>
            <a:off x="7494961" y="3795565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g3b0c93173ad_0_213"/>
          <p:cNvSpPr txBox="1"/>
          <p:nvPr/>
        </p:nvSpPr>
        <p:spPr>
          <a:xfrm>
            <a:off x="8197825" y="3863781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D+87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g3b0c93173ad_0_213"/>
          <p:cNvSpPr txBox="1"/>
          <p:nvPr/>
        </p:nvSpPr>
        <p:spPr>
          <a:xfrm>
            <a:off x="8197825" y="3795565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g3b0c93173ad_0_213"/>
          <p:cNvSpPr/>
          <p:nvPr/>
        </p:nvSpPr>
        <p:spPr>
          <a:xfrm rot="-8100000">
            <a:off x="8027891" y="3884623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b0c93173ad_0_213"/>
          <p:cNvSpPr/>
          <p:nvPr/>
        </p:nvSpPr>
        <p:spPr>
          <a:xfrm rot="-8100000">
            <a:off x="7325027" y="3884623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g3b0c93173ad_0_213"/>
          <p:cNvCxnSpPr/>
          <p:nvPr/>
        </p:nvCxnSpPr>
        <p:spPr>
          <a:xfrm rot="10800000">
            <a:off x="7778500" y="3515700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7" name="Google Shape;557;g3b0c93173ad_0_213"/>
          <p:cNvSpPr txBox="1"/>
          <p:nvPr/>
        </p:nvSpPr>
        <p:spPr>
          <a:xfrm>
            <a:off x="8072354" y="4581786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Notificação sobre cancelamento automático unilateral e retirada imediata do equipamento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g3b0c93173ad_0_213"/>
          <p:cNvSpPr/>
          <p:nvPr/>
        </p:nvSpPr>
        <p:spPr>
          <a:xfrm>
            <a:off x="7494961" y="3670251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b0c93173ad_0_213"/>
          <p:cNvSpPr txBox="1"/>
          <p:nvPr/>
        </p:nvSpPr>
        <p:spPr>
          <a:xfrm>
            <a:off x="7368545" y="3027980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Última oportunidade de negociação amigável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g3b0c93173ad_0_213"/>
          <p:cNvSpPr txBox="1"/>
          <p:nvPr/>
        </p:nvSpPr>
        <p:spPr>
          <a:xfrm>
            <a:off x="7500396" y="3869785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D+85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g3b0c93173ad_0_213"/>
          <p:cNvSpPr txBox="1"/>
          <p:nvPr/>
        </p:nvSpPr>
        <p:spPr>
          <a:xfrm>
            <a:off x="7500396" y="3801569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g3b0c93173ad_0_213"/>
          <p:cNvSpPr txBox="1"/>
          <p:nvPr/>
        </p:nvSpPr>
        <p:spPr>
          <a:xfrm>
            <a:off x="393979" y="147779"/>
            <a:ext cx="5404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Nova Régua de Cobrança</a:t>
            </a:r>
            <a:endParaRPr b="1" i="0" sz="2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g3b0c93173ad_0_213"/>
          <p:cNvSpPr txBox="1"/>
          <p:nvPr/>
        </p:nvSpPr>
        <p:spPr>
          <a:xfrm>
            <a:off x="425725" y="521356"/>
            <a:ext cx="188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11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11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b0c93173ad_0_213"/>
          <p:cNvSpPr/>
          <p:nvPr/>
        </p:nvSpPr>
        <p:spPr>
          <a:xfrm rot="-8100000">
            <a:off x="7354780" y="1905254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b0c93173ad_0_213"/>
          <p:cNvSpPr/>
          <p:nvPr/>
        </p:nvSpPr>
        <p:spPr>
          <a:xfrm>
            <a:off x="7524715" y="1690881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b0c93173ad_0_213"/>
          <p:cNvSpPr txBox="1"/>
          <p:nvPr/>
        </p:nvSpPr>
        <p:spPr>
          <a:xfrm>
            <a:off x="7398298" y="1002942"/>
            <a:ext cx="7968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Saúde Financeira e manutenção do contrato ativo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g3b0c93173ad_0_213"/>
          <p:cNvSpPr txBox="1"/>
          <p:nvPr/>
        </p:nvSpPr>
        <p:spPr>
          <a:xfrm>
            <a:off x="7530150" y="1890416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</a:t>
            </a:r>
            <a:r>
              <a:rPr b="1" lang="pt-BR" sz="88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35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g3b0c93173ad_0_213"/>
          <p:cNvSpPr txBox="1"/>
          <p:nvPr/>
        </p:nvSpPr>
        <p:spPr>
          <a:xfrm>
            <a:off x="7530150" y="1822199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g3b0c93173ad_0_213"/>
          <p:cNvSpPr/>
          <p:nvPr/>
        </p:nvSpPr>
        <p:spPr>
          <a:xfrm>
            <a:off x="1202715" y="3705358"/>
            <a:ext cx="545700" cy="5457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3b0c93173ad_0_213"/>
          <p:cNvSpPr txBox="1"/>
          <p:nvPr/>
        </p:nvSpPr>
        <p:spPr>
          <a:xfrm>
            <a:off x="1202715" y="3898889"/>
            <a:ext cx="5457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rPr b="1" i="0" lang="pt-BR" sz="88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</a:t>
            </a:r>
            <a:r>
              <a:rPr b="1" lang="pt-BR" sz="883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40</a:t>
            </a:r>
            <a:endParaRPr b="1" i="0" sz="88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1" name="Google Shape;571;g3b0c93173ad_0_213"/>
          <p:cNvSpPr txBox="1"/>
          <p:nvPr/>
        </p:nvSpPr>
        <p:spPr>
          <a:xfrm>
            <a:off x="1202715" y="3830673"/>
            <a:ext cx="5457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"/>
              <a:buFont typeface="Arial"/>
              <a:buNone/>
            </a:pPr>
            <a:r>
              <a:rPr b="0" i="0" lang="pt-BR" sz="63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63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g3b0c93173ad_0_213"/>
          <p:cNvSpPr/>
          <p:nvPr/>
        </p:nvSpPr>
        <p:spPr>
          <a:xfrm rot="-8100000">
            <a:off x="1735644" y="3919731"/>
            <a:ext cx="115400" cy="115400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"/>
              <a:buFont typeface="Arial"/>
              <a:buNone/>
            </a:pPr>
            <a:r>
              <a:t/>
            </a:r>
            <a:endParaRPr b="0" i="0" sz="88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b0c93173ad_0_213"/>
          <p:cNvSpPr txBox="1"/>
          <p:nvPr/>
        </p:nvSpPr>
        <p:spPr>
          <a:xfrm>
            <a:off x="997021" y="4490279"/>
            <a:ext cx="938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57750" spcFirstLastPara="1" rIns="57750" wrap="square" tIns="57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5"/>
              <a:buFont typeface="Arial"/>
              <a:buNone/>
            </a:pPr>
            <a:r>
              <a:rPr b="1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504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pt-BR" sz="504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Penalidades e encargos adicionais</a:t>
            </a:r>
            <a:endParaRPr b="0" i="0" sz="504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4" name="Google Shape;574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5366" y="1131017"/>
            <a:ext cx="129157" cy="134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7113" y="929914"/>
            <a:ext cx="145683" cy="145683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g3b0c93173ad_0_213"/>
          <p:cNvSpPr txBox="1"/>
          <p:nvPr/>
        </p:nvSpPr>
        <p:spPr>
          <a:xfrm>
            <a:off x="7858243" y="918800"/>
            <a:ext cx="883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50375" spcFirstLastPara="1" rIns="503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3"/>
              <a:buFont typeface="Arial"/>
              <a:buNone/>
            </a:pPr>
            <a:r>
              <a:rPr b="0" i="1" lang="pt-BR" sz="494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WhatsApp</a:t>
            </a:r>
            <a:endParaRPr b="0" i="1" sz="33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b0c93173ad_0_213"/>
          <p:cNvSpPr txBox="1"/>
          <p:nvPr/>
        </p:nvSpPr>
        <p:spPr>
          <a:xfrm>
            <a:off x="7865039" y="1120753"/>
            <a:ext cx="883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50375" spcFirstLastPara="1" rIns="503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3"/>
              <a:buFont typeface="Arial"/>
              <a:buNone/>
            </a:pPr>
            <a:r>
              <a:rPr b="0" i="1" lang="pt-BR" sz="494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E-mail</a:t>
            </a:r>
            <a:endParaRPr b="0" i="1" sz="33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g3b0c93173ad_0_213"/>
          <p:cNvSpPr/>
          <p:nvPr/>
        </p:nvSpPr>
        <p:spPr>
          <a:xfrm>
            <a:off x="8751649" y="1348931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b0c93173ad_0_213"/>
          <p:cNvSpPr txBox="1"/>
          <p:nvPr/>
        </p:nvSpPr>
        <p:spPr>
          <a:xfrm>
            <a:off x="7844514" y="1311584"/>
            <a:ext cx="883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50375" spcFirstLastPara="1" rIns="503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3"/>
              <a:buFont typeface="Arial"/>
              <a:buNone/>
            </a:pPr>
            <a:r>
              <a:rPr i="1" lang="pt-BR" sz="494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RCS</a:t>
            </a:r>
            <a:endParaRPr b="0" i="1" sz="33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b0c93173ad_0_213"/>
          <p:cNvSpPr txBox="1"/>
          <p:nvPr/>
        </p:nvSpPr>
        <p:spPr>
          <a:xfrm>
            <a:off x="425722" y="771639"/>
            <a:ext cx="511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1000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Carteira</a:t>
            </a:r>
            <a:r>
              <a:rPr lang="pt-BR" sz="1000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(s): </a:t>
            </a:r>
            <a:r>
              <a:rPr b="0" i="0" lang="pt-BR" sz="1000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Blips, Ideal</a:t>
            </a:r>
            <a:r>
              <a:rPr lang="pt-BR" sz="1000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, </a:t>
            </a:r>
            <a:r>
              <a:rPr b="0" i="0" lang="pt-BR" sz="1000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FIDC</a:t>
            </a:r>
            <a:r>
              <a:rPr lang="pt-BR" sz="1000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Blips e Finza</a:t>
            </a:r>
            <a:endParaRPr b="0" i="0" sz="1000" u="none" cap="none" strike="noStrike">
              <a:solidFill>
                <a:srgbClr val="7575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81" name="Google Shape;581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021" y="1355304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g3b0c93173ad_0_213"/>
          <p:cNvSpPr/>
          <p:nvPr/>
        </p:nvSpPr>
        <p:spPr>
          <a:xfrm>
            <a:off x="626339" y="1367113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583" name="Google Shape;583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7491" y="1351471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0930" y="1431379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g3b0c93173ad_0_213"/>
          <p:cNvSpPr/>
          <p:nvPr/>
        </p:nvSpPr>
        <p:spPr>
          <a:xfrm>
            <a:off x="2040247" y="1443188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586" name="Google Shape;586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1400" y="1427546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0321" y="2517229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g3b0c93173ad_0_213"/>
          <p:cNvSpPr/>
          <p:nvPr/>
        </p:nvSpPr>
        <p:spPr>
          <a:xfrm>
            <a:off x="1319639" y="2529038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589" name="Google Shape;589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0792" y="2513396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9605" y="2517129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g3b0c93173ad_0_213"/>
          <p:cNvSpPr/>
          <p:nvPr/>
        </p:nvSpPr>
        <p:spPr>
          <a:xfrm>
            <a:off x="2728922" y="2528938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592" name="Google Shape;592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0075" y="2513296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7130" y="1426641"/>
            <a:ext cx="88833" cy="9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2892" y="2552941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g3b0c93173ad_0_213"/>
          <p:cNvSpPr/>
          <p:nvPr/>
        </p:nvSpPr>
        <p:spPr>
          <a:xfrm>
            <a:off x="4112210" y="2564750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596" name="Google Shape;596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33362" y="2549109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9680" y="1400313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g3b0c93173ad_0_213"/>
          <p:cNvSpPr/>
          <p:nvPr/>
        </p:nvSpPr>
        <p:spPr>
          <a:xfrm>
            <a:off x="4838997" y="1412122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599" name="Google Shape;599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0150" y="1396481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2576" y="2463716"/>
            <a:ext cx="88833" cy="9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8891" y="1385711"/>
            <a:ext cx="88833" cy="9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2200" y="3397379"/>
            <a:ext cx="88833" cy="9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260" y="3390529"/>
            <a:ext cx="88833" cy="9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762" y="3411629"/>
            <a:ext cx="88833" cy="9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5759" y="4462904"/>
            <a:ext cx="88833" cy="9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3292" y="1370954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g3b0c93173ad_0_213"/>
          <p:cNvSpPr/>
          <p:nvPr/>
        </p:nvSpPr>
        <p:spPr>
          <a:xfrm>
            <a:off x="6222610" y="1382763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608" name="Google Shape;608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762" y="1367121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2930" y="2539024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g3b0c93173ad_0_213"/>
          <p:cNvSpPr/>
          <p:nvPr/>
        </p:nvSpPr>
        <p:spPr>
          <a:xfrm>
            <a:off x="6902247" y="2550834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611" name="Google Shape;611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3400" y="2535192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9757" y="4471922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g3b0c93173ad_0_213"/>
          <p:cNvSpPr/>
          <p:nvPr/>
        </p:nvSpPr>
        <p:spPr>
          <a:xfrm>
            <a:off x="1249074" y="4483731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614" name="Google Shape;614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0227" y="4468090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3330" y="3364143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g3b0c93173ad_0_213"/>
          <p:cNvSpPr/>
          <p:nvPr/>
        </p:nvSpPr>
        <p:spPr>
          <a:xfrm>
            <a:off x="2012647" y="3375952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617" name="Google Shape;617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3800" y="3360311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0085" y="4474968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g3b0c93173ad_0_213"/>
          <p:cNvSpPr/>
          <p:nvPr/>
        </p:nvSpPr>
        <p:spPr>
          <a:xfrm>
            <a:off x="2729402" y="4486777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620" name="Google Shape;620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0555" y="4471136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7967" y="4474981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g3b0c93173ad_0_213"/>
          <p:cNvSpPr/>
          <p:nvPr/>
        </p:nvSpPr>
        <p:spPr>
          <a:xfrm>
            <a:off x="4107285" y="4486790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623" name="Google Shape;623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8437" y="4471148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7380" y="4490643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g3b0c93173ad_0_213"/>
          <p:cNvSpPr/>
          <p:nvPr/>
        </p:nvSpPr>
        <p:spPr>
          <a:xfrm>
            <a:off x="5486697" y="4502452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626" name="Google Shape;626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7850" y="4486811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2017" y="3347181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g3b0c93173ad_0_213"/>
          <p:cNvSpPr/>
          <p:nvPr/>
        </p:nvSpPr>
        <p:spPr>
          <a:xfrm>
            <a:off x="7611335" y="3358990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629" name="Google Shape;629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2487" y="3343348"/>
            <a:ext cx="100200" cy="1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g3b0c93173ad_0_213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1680" y="4414603"/>
            <a:ext cx="88833" cy="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g3b0c93173ad_0_213"/>
          <p:cNvSpPr/>
          <p:nvPr/>
        </p:nvSpPr>
        <p:spPr>
          <a:xfrm>
            <a:off x="8300997" y="4426412"/>
            <a:ext cx="88800" cy="6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875" lIns="62875" spcFirstLastPara="1" rIns="62875" wrap="square" tIns="6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/>
          </a:p>
        </p:txBody>
      </p:sp>
      <p:pic>
        <p:nvPicPr>
          <p:cNvPr id="632" name="Google Shape;632;g3b0c93173ad_0_213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2150" y="4410770"/>
            <a:ext cx="100200" cy="10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3" name="Google Shape;633;g3b0c93173ad_0_213"/>
          <p:cNvCxnSpPr/>
          <p:nvPr/>
        </p:nvCxnSpPr>
        <p:spPr>
          <a:xfrm rot="10800000">
            <a:off x="8472250" y="4215950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4" name="Google Shape;634;g3b0c93173ad_0_213"/>
          <p:cNvCxnSpPr/>
          <p:nvPr/>
        </p:nvCxnSpPr>
        <p:spPr>
          <a:xfrm rot="10800000">
            <a:off x="7069447" y="4230244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5" name="Google Shape;635;g3b0c93173ad_0_213"/>
          <p:cNvCxnSpPr/>
          <p:nvPr/>
        </p:nvCxnSpPr>
        <p:spPr>
          <a:xfrm rot="10800000">
            <a:off x="6374272" y="3521534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g3b0c93173ad_0_213"/>
          <p:cNvCxnSpPr/>
          <p:nvPr/>
        </p:nvCxnSpPr>
        <p:spPr>
          <a:xfrm rot="10800000">
            <a:off x="5682047" y="4225547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g3b0c93173ad_0_213"/>
          <p:cNvCxnSpPr/>
          <p:nvPr/>
        </p:nvCxnSpPr>
        <p:spPr>
          <a:xfrm rot="10800000">
            <a:off x="4970197" y="3526259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g3b0c93173ad_0_213"/>
          <p:cNvCxnSpPr/>
          <p:nvPr/>
        </p:nvCxnSpPr>
        <p:spPr>
          <a:xfrm rot="10800000">
            <a:off x="4278522" y="4250165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g3b0c93173ad_0_213"/>
          <p:cNvCxnSpPr/>
          <p:nvPr/>
        </p:nvCxnSpPr>
        <p:spPr>
          <a:xfrm flipH="1" rot="10800000">
            <a:off x="3585274" y="3531690"/>
            <a:ext cx="900" cy="1662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g3b0c93173ad_0_213"/>
          <p:cNvCxnSpPr/>
          <p:nvPr/>
        </p:nvCxnSpPr>
        <p:spPr>
          <a:xfrm flipH="1" rot="10800000">
            <a:off x="2869086" y="4241230"/>
            <a:ext cx="900" cy="1662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g3b0c93173ad_0_213"/>
          <p:cNvCxnSpPr/>
          <p:nvPr/>
        </p:nvCxnSpPr>
        <p:spPr>
          <a:xfrm flipH="1" rot="10800000">
            <a:off x="2171038" y="3536089"/>
            <a:ext cx="900" cy="1662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g3b0c93173ad_0_213"/>
          <p:cNvCxnSpPr/>
          <p:nvPr/>
        </p:nvCxnSpPr>
        <p:spPr>
          <a:xfrm flipH="1" rot="10800000">
            <a:off x="1459636" y="4255830"/>
            <a:ext cx="900" cy="1662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g3b0c93173ad_0_213"/>
          <p:cNvCxnSpPr/>
          <p:nvPr/>
        </p:nvCxnSpPr>
        <p:spPr>
          <a:xfrm rot="10800000">
            <a:off x="796097" y="1549700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g3b0c93173ad_0_213"/>
          <p:cNvCxnSpPr/>
          <p:nvPr/>
        </p:nvCxnSpPr>
        <p:spPr>
          <a:xfrm rot="10800000">
            <a:off x="1490897" y="2290753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g3b0c93173ad_0_213"/>
          <p:cNvCxnSpPr/>
          <p:nvPr/>
        </p:nvCxnSpPr>
        <p:spPr>
          <a:xfrm rot="10800000">
            <a:off x="2208421" y="1568159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g3b0c93173ad_0_213"/>
          <p:cNvCxnSpPr/>
          <p:nvPr/>
        </p:nvCxnSpPr>
        <p:spPr>
          <a:xfrm rot="10800000">
            <a:off x="2900171" y="2270046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g3b0c93173ad_0_213"/>
          <p:cNvCxnSpPr/>
          <p:nvPr/>
        </p:nvCxnSpPr>
        <p:spPr>
          <a:xfrm rot="10800000">
            <a:off x="3595446" y="1553259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g3b0c93173ad_0_213"/>
          <p:cNvCxnSpPr/>
          <p:nvPr/>
        </p:nvCxnSpPr>
        <p:spPr>
          <a:xfrm rot="10800000">
            <a:off x="4290996" y="2270196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g3b0c93173ad_0_213"/>
          <p:cNvCxnSpPr/>
          <p:nvPr/>
        </p:nvCxnSpPr>
        <p:spPr>
          <a:xfrm rot="10800000">
            <a:off x="4984150" y="1555098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g3b0c93173ad_0_213"/>
          <p:cNvCxnSpPr/>
          <p:nvPr/>
        </p:nvCxnSpPr>
        <p:spPr>
          <a:xfrm rot="10800000">
            <a:off x="5684525" y="2245358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g3b0c93173ad_0_213"/>
          <p:cNvCxnSpPr/>
          <p:nvPr/>
        </p:nvCxnSpPr>
        <p:spPr>
          <a:xfrm rot="10800000">
            <a:off x="6386950" y="1539799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g3b0c93173ad_0_213"/>
          <p:cNvCxnSpPr/>
          <p:nvPr/>
        </p:nvCxnSpPr>
        <p:spPr>
          <a:xfrm rot="10800000">
            <a:off x="7084450" y="2245349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g3b0c93173ad_0_213"/>
          <p:cNvCxnSpPr/>
          <p:nvPr/>
        </p:nvCxnSpPr>
        <p:spPr>
          <a:xfrm rot="10800000">
            <a:off x="7799570" y="1536199"/>
            <a:ext cx="0" cy="158100"/>
          </a:xfrm>
          <a:prstGeom prst="straightConnector1">
            <a:avLst/>
          </a:prstGeom>
          <a:noFill/>
          <a:ln cap="flat" cmpd="sng" w="10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g3d0eb6d2b71_0_0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g3d0eb6d2b71_0_0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g3d0eb6d2b71_0_0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61" name="Google Shape;661;g3d0eb6d2b71_0_0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3d0eb6d2b71_0_0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d0eb6d2b71_0_0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+3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g3d0eb6d2b71_0_0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65" name="Google Shape;665;g3d0eb6d2b71_0_0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não identificamos atualização 📄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Pode verificar para a gente?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66" name="Google Shape;666;g3d0eb6d2b71_0_0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67" name="Google Shape;667;g3d0eb6d2b71_0_0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68" name="Google Shape;668;g3d0eb6d2b71_0_0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69" name="Google Shape;669;g3d0eb6d2b71_0_0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70" name="Google Shape;670;g3d0eb6d2b71_0_0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contrato segue em aberto: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o pagamento já foi realizado, você pode nos enviar o comprovante para agilizarmos a baixa em sistema?.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71" name="Google Shape;671;g3d0eb6d2b71_0_0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72" name="Google Shape;672;g3d0eb6d2b71_0_0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Pendência identificada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contrato segue em aberto: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já realizou, você pode enviar o comprovante.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73" name="Google Shape;673;g3d0eb6d2b71_0_0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74" name="Google Shape;674;g3d0eb6d2b71_0_0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75" name="Google Shape;675;g3d0eb6d2b71_0_0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76" name="Google Shape;676;g3d0eb6d2b71_0_0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77" name="Google Shape;677;g3d0eb6d2b71_0_0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78" name="Google Shape;678;g3d0eb6d2b71_0_0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79" name="Google Shape;679;g3d0eb6d2b71_0_0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Até o momento, não identificamos o pagamento referente ao seu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Ressaltamos que a regularização dos pagamentos é necessária para evitar a incidência de encargos adicionais e para garantir a continuidade dos serviços contratados, conforme condições previstas em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o pagamento já tenha sido realizado, pedimos que desconsidere este aviso ou, se preferir,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ainda não houve pagamento, você pode acessar a Plataforma Blips para consultar os detalhes e emitir 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não lembrar sua senha, basta clicar em “Esqueci minha senha” para redefinir rapidamente.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Em caso de dúvidas,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 para ajudar.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80" name="Google Shape;680;g3d0eb6d2b71_0_0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Pagamento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{{Empresa}}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 não identificado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g3d15892e88b_0_450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g3d15892e88b_0_450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g3d15892e88b_0_450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88" name="Google Shape;688;g3d15892e88b_0_450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3d15892e88b_0_450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3d15892e88b_0_450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+3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1" name="Google Shape;691;g3d15892e88b_0_450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92" name="Google Shape;692;g3d15892e88b_0_450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podemos te ajudar com o acesso? 🙂</a:t>
            </a: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93" name="Google Shape;693;g3d15892e88b_0_450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94" name="Google Shape;694;g3d15892e88b_0_450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95" name="Google Shape;695;g3d15892e88b_0_450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96" name="Google Shape;696;g3d15892e88b_0_450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97" name="Google Shape;697;g3d15892e88b_0_450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Notamos que seu primeiro pagamento ainda não foi identificado.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tiver dificuldade, te ajudamos por aqui.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98" name="Google Shape;698;g3d15892e88b_0_450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99" name="Google Shape;699;g3d15892e88b_0_450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Precisa de ajuda?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contrato ainda não foi atualizado: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Podemos te ajudar com o acesso.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00" name="Google Shape;700;g3d15892e88b_0_450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01" name="Google Shape;701;g3d15892e88b_0_450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02" name="Google Shape;702;g3d15892e88b_0_450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03" name="Google Shape;703;g3d15892e88b_0_450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04" name="Google Shape;704;g3d15892e88b_0_450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05" name="Google Shape;705;g3d15892e88b_0_450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06" name="Google Shape;706;g3d15892e88b_0_450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Até o momento, não identificamos o pagamento referente ao seu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Ressaltamos que a regularização dos pagamentos é necessária para evitar a incidência de encargos adicionais e para garantir a continuidade dos serviços contratados, conforme condições previstas em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o pagamento já tenha sido realizado, pedimos que desconsidere este aviso ou, se preferir,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ainda não houve pagamento, você pode acessar a Plataforma Blips para consultar os detalhes e emitir 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não lembrar sua senha, basta clicar em “Esqueci minha senha” para redefinir rapidamente.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Em caso de dúvidas,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 para ajudar.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07" name="Google Shape;707;g3d15892e88b_0_450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Pagamento {{Empresa}}  não identificado 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08" name="Google Shape;708;g3d15892e88b_0_450"/>
          <p:cNvSpPr/>
          <p:nvPr/>
        </p:nvSpPr>
        <p:spPr>
          <a:xfrm>
            <a:off x="5580964" y="183349"/>
            <a:ext cx="1193400" cy="170400"/>
          </a:xfrm>
          <a:prstGeom prst="flowChartAlternateProcess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PNP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g3d0eb6d2b71_0_26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g3d0eb6d2b71_0_26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g3d0eb6d2b71_0_26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16" name="Google Shape;716;g3d0eb6d2b71_0_26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g3d0eb6d2b71_0_26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g3d0eb6d2b71_0_26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+5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9" name="Google Shape;719;g3d0eb6d2b71_0_26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20" name="Google Shape;720;g3d0eb6d2b71_0_26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seu contrato segue em aberto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Evite impactos na utilização.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21" name="Google Shape;721;g3d0eb6d2b71_0_26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22" name="Google Shape;722;g3d0eb6d2b71_0_26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23" name="Google Shape;723;g3d0eb6d2b71_0_26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24" name="Google Shape;724;g3d0eb6d2b71_0_26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25" name="Google Shape;725;g3d0eb6d2b71_0_26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que o contrato ainda não foi atualizado: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não regularização pode impactar a utilização do seu {{Nome do equipamento}}.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26" name="Google Shape;726;g3d0eb6d2b71_0_26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27" name="Google Shape;727;g3d0eb6d2b71_0_26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Atenção ao contrato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ainda não foi atualizado: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Pode impactar a utilização do {{Nome do equipamento}}.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28" name="Google Shape;728;g3d0eb6d2b71_0_26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29" name="Google Shape;729;g3d0eb6d2b71_0_26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30" name="Google Shape;730;g3d0eb6d2b71_0_26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31" name="Google Shape;731;g3d0eb6d2b71_0_26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32" name="Google Shape;732;g3d0eb6d2b71_0_26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33" name="Google Shape;733;g3d0eb6d2b71_0_26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34" name="Google Shape;734;g3d0eb6d2b71_0_26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que o pagamento do seu contrato permanece em aberto.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 o bloqueio dos equipamentos pode ocorrer a partir do 7º dia de atraso, caso não haja regularização.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evitar a interrupção do funcionamento, recomendamos que o pagamento seja realizado o quanto antes.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pagamento pode ser feito de forma simples: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Pelo aplicativo do seu banco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Internet banking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Agências bancárias ou lotéricas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Acesse a plataforma para consultar ou emitir 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35" name="Google Shape;735;g3d0eb6d2b71_0_26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Evite o bloqueio do seu equipamento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g3d15892e88b_0_480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g3d15892e88b_0_480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g3d15892e88b_0_480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43" name="Google Shape;743;g3d15892e88b_0_480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3d15892e88b_0_480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3d15892e88b_0_480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+5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6" name="Google Shape;746;g3d15892e88b_0_480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47" name="Google Shape;747;g3d15892e88b_0_480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vamos te ajudar com isso 🤝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48" name="Google Shape;748;g3d15892e88b_0_480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49" name="Google Shape;749;g3d15892e88b_0_480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50" name="Google Shape;750;g3d15892e88b_0_480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51" name="Google Shape;751;g3d15892e88b_0_480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52" name="Google Shape;752;g3d15892e88b_0_480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Esse primeiro pagamento é importante para o funcionamento do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quiser, te mostramos as opções disponíveis.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53" name="Google Shape;753;g3d15892e88b_0_480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54" name="Google Shape;754;g3d15892e88b_0_480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Podemos te ajudar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Esse primeiro pagamento ajuda na continuidade do contrato: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55" name="Google Shape;755;g3d15892e88b_0_480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56" name="Google Shape;756;g3d15892e88b_0_480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57" name="Google Shape;757;g3d15892e88b_0_480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58" name="Google Shape;758;g3d15892e88b_0_480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59" name="Google Shape;759;g3d15892e88b_0_480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60" name="Google Shape;760;g3d15892e88b_0_480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61" name="Google Shape;761;g3d15892e88b_0_480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que o pagamento do seu contrato permanece em aberto.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 o bloqueio dos equipamentos pode ocorrer a partir do 7º dia de atraso, caso não haja regularização.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evitar a interrupção do funcionamento, recomendamos que o pagamento seja realizado o quanto antes.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pagamento pode ser feito de forma simples: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Pelo aplicativo do seu banco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Internet banking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Agências bancárias ou lotéricas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Acesse a plataforma para consultar ou emitir 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62" name="Google Shape;762;g3d15892e88b_0_480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 Evite o bloqueio do seu equipamento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63" name="Google Shape;763;g3d15892e88b_0_480"/>
          <p:cNvSpPr/>
          <p:nvPr/>
        </p:nvSpPr>
        <p:spPr>
          <a:xfrm>
            <a:off x="5580964" y="183349"/>
            <a:ext cx="1193400" cy="170400"/>
          </a:xfrm>
          <a:prstGeom prst="flowChartAlternateProcess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PNP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" name="Google Shape;768;g3d0eb6d2b71_0_52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g3d0eb6d2b71_0_52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g3d0eb6d2b71_0_52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71" name="Google Shape;771;g3d0eb6d2b71_0_52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d0eb6d2b71_0_52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3d0eb6d2b71_0_52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+8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4" name="Google Shape;774;g3d0eb6d2b71_0_52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75" name="Google Shape;775;g3d0eb6d2b71_0_52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houve atualização no equipamento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76" name="Google Shape;776;g3d0eb6d2b71_0_52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77" name="Google Shape;777;g3d0eb6d2b71_0_52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78" name="Google Shape;778;g3d0eb6d2b71_0_52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79" name="Google Shape;779;g3d0eb6d2b71_0_52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80" name="Google Shape;780;g3d0eb6d2b71_0_52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No momento, o {{Nome do equipamento}} está temporariamente indisponível.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permite a retomada da utilização normalmente.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81" name="Google Shape;781;g3d0eb6d2b71_0_52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82" name="Google Shape;782;g3d0eb6d2b71_0_52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Equipamento indisponível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{{Nome do equipamento}} está temporariamente indisponível.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permite a retomada.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Regularize para retomada.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83" name="Google Shape;783;g3d0eb6d2b71_0_52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84" name="Google Shape;784;g3d0eb6d2b71_0_52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85" name="Google Shape;785;g3d0eb6d2b71_0_52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86" name="Google Shape;786;g3d0eb6d2b71_0_52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87" name="Google Shape;787;g3d0eb6d2b71_0_52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88" name="Google Shape;788;g3d0eb6d2b71_0_52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89" name="Google Shape;789;g3d0eb6d2b71_0_52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devido ao atraso no pagamento, seu equipamento foi bloqueado temporariamente.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Neste momento, estão disponíveis opções de negociação e pagamento dos valores em aberto, que possibilitam o desbloqueio do equipamento e viabilizam a continuidade de utilização, contribuindo para a manutenção das operações e a geração de novas receitas.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preferir, acesse a plataforma para consultar e emitir 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 para te ajudar na regularização.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90" name="Google Shape;790;g3d0eb6d2b71_0_52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Equipamento bloqueado temporariamente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g3d15892e88b_0_507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g3d15892e88b_0_507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g3d15892e88b_0_507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98" name="Google Shape;798;g3d15892e88b_0_507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g3d15892e88b_0_507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d15892e88b_0_507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+8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1" name="Google Shape;801;g3d15892e88b_0_507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02" name="Google Shape;802;g3d15892e88b_0_507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houve atualização no equipamento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03" name="Google Shape;803;g3d15892e88b_0_507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04" name="Google Shape;804;g3d15892e88b_0_507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05" name="Google Shape;805;g3d15892e88b_0_507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06" name="Google Shape;806;g3d15892e88b_0_507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07" name="Google Shape;807;g3d15892e88b_0_507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falta de atualização impacta diretamente na utilização do {{Nome do equipamento}}.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Podemos te orientar para resolver.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08" name="Google Shape;808;g3d15892e88b_0_507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09" name="Google Shape;809;g3d15892e88b_0_507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Atenção ao equipamento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{{Nome do equipamento}} pode ser impactado: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10" name="Google Shape;810;g3d15892e88b_0_507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11" name="Google Shape;811;g3d15892e88b_0_507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12" name="Google Shape;812;g3d15892e88b_0_507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13" name="Google Shape;813;g3d15892e88b_0_507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14" name="Google Shape;814;g3d15892e88b_0_507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15" name="Google Shape;815;g3d15892e88b_0_507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16" name="Google Shape;816;g3d15892e88b_0_507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devido ao atraso no pagamento, seu equipamento foi bloqueado temporariamente.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Neste momento, estão disponíveis opções de negociação e pagamento dos valores em aberto, que possibilitam o desbloqueio do equipamento e viabilizam a continuidade de utilização, contribuindo para a manutenção das operações e a geração de novas receitas.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preferir, acesse a plataforma para consultar e emitir 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 para te ajudar na regularização.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17" name="Google Shape;817;g3d15892e88b_0_507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 Equipamento bloqueado temporariamente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18" name="Google Shape;818;g3d15892e88b_0_507"/>
          <p:cNvSpPr/>
          <p:nvPr/>
        </p:nvSpPr>
        <p:spPr>
          <a:xfrm>
            <a:off x="5580964" y="183349"/>
            <a:ext cx="1193400" cy="170400"/>
          </a:xfrm>
          <a:prstGeom prst="flowChartAlternateProcess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PNP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g3d0eb6d2b71_0_79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g3d0eb6d2b71_0_79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g3d0eb6d2b71_0_79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26" name="Google Shape;826;g3d0eb6d2b71_0_79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3d0eb6d2b71_0_79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d0eb6d2b71_0_79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+11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9" name="Google Shape;829;g3d0eb6d2b71_0_79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30" name="Google Shape;830;g3d0eb6d2b71_0_79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seu contrato segue com restrição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É importante regularizar.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31" name="Google Shape;831;g3d0eb6d2b71_0_79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32" name="Google Shape;832;g3d0eb6d2b71_0_79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33" name="Google Shape;833;g3d0eb6d2b71_0_79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34" name="Google Shape;834;g3d0eb6d2b71_0_79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35" name="Google Shape;835;g3d0eb6d2b71_0_79"/>
          <p:cNvSpPr/>
          <p:nvPr/>
        </p:nvSpPr>
        <p:spPr>
          <a:xfrm>
            <a:off x="220425" y="2492794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do seu {{Nome do equipamento}} segue com restrição de uso.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permite a normalização da operação.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36" name="Google Shape;836;g3d0eb6d2b71_0_79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37" name="Google Shape;837;g3d0eb6d2b71_0_79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Regularização necessária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segue com restrição de uso: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permite normalização.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38" name="Google Shape;838;g3d0eb6d2b71_0_79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39" name="Google Shape;839;g3d0eb6d2b71_0_79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40" name="Google Shape;840;g3d0eb6d2b71_0_79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41" name="Google Shape;841;g3d0eb6d2b71_0_79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42" name="Google Shape;842;g3d0eb6d2b71_0_79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43" name="Google Shape;843;g3d0eb6d2b71_0_79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44" name="Google Shape;844;g3d0eb6d2b71_0_79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Em razão da permanência da inadimplência, os equipamentos relacionados ao seu contrato encontram-se bloqueados até que haja a devida regularização dos valores em aberto.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Ressaltamos que a regularização financeira é indispensável para a manutenção do contrato ativo, conforme as condições contratuais vigentes.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realizar o pagamento, você pode utilizar: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Aplicativo do seu banco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Internet banking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Agências bancárias ou lotéricas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Ou acessar a plataforma para consulta e emissão do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45" name="Google Shape;845;g3d0eb6d2b71_0_79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Bloqueio do equipamento mantido por inadimplência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g3d15892e88b_0_535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g3d15892e88b_0_535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g3d15892e88b_0_535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53" name="Google Shape;853;g3d15892e88b_0_535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g3d15892e88b_0_535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g3d15892e88b_0_535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+11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6" name="Google Shape;856;g3d15892e88b_0_535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57" name="Google Shape;857;g3d15892e88b_0_535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seu contrato precisa de atenção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58" name="Google Shape;858;g3d15892e88b_0_535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59" name="Google Shape;859;g3d15892e88b_0_535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60" name="Google Shape;860;g3d15892e88b_0_535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61" name="Google Shape;861;g3d15892e88b_0_535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62" name="Google Shape;862;g3d15892e88b_0_535"/>
          <p:cNvSpPr/>
          <p:nvPr/>
        </p:nvSpPr>
        <p:spPr>
          <a:xfrm>
            <a:off x="220425" y="2492794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segue sem atualização no momento.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ajuda a manter a operação ativa.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63" name="Google Shape;863;g3d15892e88b_0_535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64" name="Google Shape;864;g3d15892e88b_0_535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Regularização importante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contrato segue em aberto: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65" name="Google Shape;865;g3d15892e88b_0_535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66" name="Google Shape;866;g3d15892e88b_0_535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67" name="Google Shape;867;g3d15892e88b_0_535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68" name="Google Shape;868;g3d15892e88b_0_535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69" name="Google Shape;869;g3d15892e88b_0_535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70" name="Google Shape;870;g3d15892e88b_0_535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71" name="Google Shape;871;g3d15892e88b_0_535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Em razão da permanência da inadimplência, os equipamentos relacionados ao seu contrato encontram-se bloqueados até que haja a devida regularização dos valores em aberto.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Ressaltamos que a regularização financeira é indispensável para a manutenção do contrato ativo, conforme as condições contratuais vigentes.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realizar o pagamento, você pode utilizar: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Aplicativo do seu banco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Internet banking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Agências bancárias ou lotéricas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Ou acessar a plataforma para consulta e emissão do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72" name="Google Shape;872;g3d15892e88b_0_535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 Bloqueio do equipamento mantido por inadimplência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73" name="Google Shape;873;g3d15892e88b_0_535"/>
          <p:cNvSpPr/>
          <p:nvPr/>
        </p:nvSpPr>
        <p:spPr>
          <a:xfrm>
            <a:off x="5580964" y="183349"/>
            <a:ext cx="1193400" cy="170400"/>
          </a:xfrm>
          <a:prstGeom prst="flowChartAlternateProcess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PNP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g3d0eb6d2b71_0_106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g3d0eb6d2b71_0_106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d0eb6d2b71_0_106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81" name="Google Shape;881;g3d0eb6d2b71_0_106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g3d0eb6d2b71_0_106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g3d0eb6d2b71_0_106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+13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4" name="Google Shape;884;g3d0eb6d2b71_0_106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85" name="Google Shape;885;g3d0eb6d2b71_0_106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86" name="Google Shape;886;g3d0eb6d2b71_0_106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87" name="Google Shape;887;g3d0eb6d2b71_0_106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88" name="Google Shape;888;g3d0eb6d2b71_0_106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89" name="Google Shape;889;g3d0eb6d2b71_0_106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90" name="Google Shape;890;g3d0eb6d2b71_0_106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91" name="Google Shape;891;g3d0eb6d2b71_0_106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92" name="Google Shape;892;g3d0eb6d2b71_0_106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93" name="Google Shape;893;g3d0eb6d2b71_0_106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94" name="Google Shape;894;g3d0eb6d2b71_0_106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95" name="Google Shape;895;g3d0eb6d2b71_0_106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96" name="Google Shape;896;g3d0eb6d2b71_0_106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97" name="Google Shape;897;g3d0eb6d2b71_0_106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98" name="Google Shape;898;g3d0eb6d2b71_0_106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99" name="Google Shape;899;g3d0eb6d2b71_0_106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que seu equipamento permanece bloqueado em razão da inadimplência.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Com o equipamento inativo, sua operação pode ser impactada, comprometendo a geração de receitas e a continuidade das atividades.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dos valores em aberto possibilita o desbloqueio e a retomada imediata da utilização.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Você pode realizar o pagamento de forma simples: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Pelo aplicativo do seu banco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Internet banking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Agências bancárias ou lotéricas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Ou, se preferir, acesse a Plataforma Blips para consultar e emitir 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não lembre sua senha, utilize a opção “Esqueci minha senha”.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já realizou o pagamento, pedimos que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 para te apoiar na regularização.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00" name="Google Shape;900;g3d0eb6d2b71_0_106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Equipamento parado impacta sua operação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Google Shape;905;g3d15892e88b_0_590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g3d15892e88b_0_590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g3d15892e88b_0_590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08" name="Google Shape;908;g3d15892e88b_0_590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d15892e88b_0_590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d15892e88b_0_590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+16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1" name="Google Shape;911;g3d15892e88b_0_590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12" name="Google Shape;912;g3d15892e88b_0_590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enviamos uma notificação 📄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13" name="Google Shape;913;g3d15892e88b_0_590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14" name="Google Shape;914;g3d15892e88b_0_590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15" name="Google Shape;915;g3d15892e88b_0_590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16" name="Google Shape;916;g3d15892e88b_0_590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17" name="Google Shape;917;g3d15892e88b_0_590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Encaminhamos uma comunicação importante para seu e-mail.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a verificação para evitar avanço das etapas do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18" name="Google Shape;918;g3d15892e88b_0_590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19" name="Google Shape;919;g3d15892e88b_0_590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20" name="Google Shape;920;g3d15892e88b_0_590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21" name="Google Shape;921;g3d15892e88b_0_590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22" name="Google Shape;922;g3d15892e88b_0_590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23" name="Google Shape;923;g3d15892e88b_0_590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24" name="Google Shape;924;g3d15892e88b_0_590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25" name="Google Shape;925;g3d15892e88b_0_590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26" name="Google Shape;926;g3d15892e88b_0_590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Por meio deste, formalizamos o envio de notificação extrajudicial referente ao seu contrato, em razão da permanência da inadimplência.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Nos termos das condições contratuais vigentes, o não pagamento poderá acarretar a incidência de penalidades e encargos adicionais, bem como a adoção de medidas administrativas e legais cabíveis.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Dessa forma, reforçamos a importância da regularização dos valores em aberto, a fim de evitar a evolução das medidas de cobrança e possibilitar a manutenção do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regularizar, acesse a plataforma: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Em caso de dúvidas,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</a:t>
            </a:r>
            <a:r>
              <a:rPr lang="pt-BR" sz="586" u="sng">
                <a:solidFill>
                  <a:schemeClr val="hlink"/>
                </a:solidFill>
                <a:latin typeface="Alexandria"/>
                <a:ea typeface="Alexandria"/>
                <a:cs typeface="Alexandria"/>
                <a:sym typeface="Alexandria"/>
                <a:hlinkClick r:id="rId5"/>
              </a:rPr>
              <a:t>https://wa.me/{{TelefoneWhatsApp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27" name="Google Shape;927;g3d15892e88b_0_590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Notificação extrajudicial – Regularização Pendente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28" name="Google Shape;928;g3d15892e88b_0_590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Comunicação enviada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Encaminhamos uma comunicação para seu e-mail: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a verificação.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3" name="Google Shape;933;g3d15892e88b_0_617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g3d15892e88b_0_617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g3d15892e88b_0_617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36" name="Google Shape;936;g3d15892e88b_0_617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3d15892e88b_0_617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d15892e88b_0_617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+16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9" name="Google Shape;939;g3d15892e88b_0_617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40" name="Google Shape;940;g3d15892e88b_0_617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enviamos uma notificação 📄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41" name="Google Shape;941;g3d15892e88b_0_617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42" name="Google Shape;942;g3d15892e88b_0_617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43" name="Google Shape;943;g3d15892e88b_0_617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44" name="Google Shape;944;g3d15892e88b_0_617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45" name="Google Shape;945;g3d15892e88b_0_617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Encaminhamos uma comunicação com detalhes do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Vale conferir para acompanhar a situação.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46" name="Google Shape;946;g3d15892e88b_0_617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47" name="Google Shape;947;g3d15892e88b_0_617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48" name="Google Shape;948;g3d15892e88b_0_617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49" name="Google Shape;949;g3d15892e88b_0_617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50" name="Google Shape;950;g3d15892e88b_0_617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51" name="Google Shape;951;g3d15892e88b_0_617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52" name="Google Shape;952;g3d15892e88b_0_617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53" name="Google Shape;953;g3d15892e88b_0_617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54" name="Google Shape;954;g3d15892e88b_0_617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Por meio deste, formalizamos o envio de notificação extrajudicial referente ao seu contrato, em razão da permanência da inadimplência.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Nos termos das condições contratuais vigentes, o não pagamento poderá acarretar a incidência de penalidades e encargos adicionais, bem como a adoção de medidas administrativas e legais cabíveis.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Dessa forma, reforçamos a importância da regularização dos valores em aberto, a fim de evitar a evolução das medidas de cobrança e possibilitar a manutenção do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regularizar, acesse a plataforma: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Em caso de dúvidas,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</a:t>
            </a:r>
            <a:r>
              <a:rPr lang="pt-BR" sz="586" u="sng">
                <a:solidFill>
                  <a:schemeClr val="hlink"/>
                </a:solidFill>
                <a:latin typeface="Alexandria"/>
                <a:ea typeface="Alexandria"/>
                <a:cs typeface="Alexandria"/>
                <a:sym typeface="Alexandria"/>
                <a:hlinkClick r:id="rId5"/>
              </a:rPr>
              <a:t>https://wa.me/{{TelefoneWhatsApp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55" name="Google Shape;955;g3d15892e88b_0_617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Notificação extrajudicial – Regularização Pendente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56" name="Google Shape;956;g3d15892e88b_0_617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Comunicação enviada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Encaminhamos uma comunicação para seu e-mail: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a verificação.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57" name="Google Shape;957;g3d15892e88b_0_617"/>
          <p:cNvSpPr/>
          <p:nvPr/>
        </p:nvSpPr>
        <p:spPr>
          <a:xfrm>
            <a:off x="5580964" y="183349"/>
            <a:ext cx="1193400" cy="170400"/>
          </a:xfrm>
          <a:prstGeom prst="flowChartAlternateProcess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PNP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g3d0eb6d2b71_0_688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g3d0eb6d2b71_0_688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g3d0eb6d2b71_0_688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65" name="Google Shape;965;g3d0eb6d2b71_0_688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g3d0eb6d2b71_0_688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g3d0eb6d2b71_0_688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+20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8" name="Google Shape;968;g3d0eb6d2b71_0_688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69" name="Google Shape;969;g3d0eb6d2b71_0_688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podemos te ajudar 🤝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Consulte as opções disponíveis.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70" name="Google Shape;970;g3d0eb6d2b71_0_688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71" name="Google Shape;971;g3d0eb6d2b71_0_688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72" name="Google Shape;972;g3d0eb6d2b71_0_688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73" name="Google Shape;973;g3d0eb6d2b71_0_688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74" name="Google Shape;974;g3d0eb6d2b71_0_688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Temos opções para facilitar a regularização do seu contrato de {{Modalidade do contrato}}: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75" name="Google Shape;975;g3d0eb6d2b71_0_688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76" name="Google Shape;976;g3d0eb6d2b71_0_688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77" name="Google Shape;977;g3d0eb6d2b71_0_688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78" name="Google Shape;978;g3d0eb6d2b71_0_688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79" name="Google Shape;979;g3d0eb6d2b71_0_688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80" name="Google Shape;980;g3d0eb6d2b71_0_688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81" name="Google Shape;981;g3d0eb6d2b71_0_688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82" name="Google Shape;982;g3d0eb6d2b71_0_688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83" name="Google Shape;983;g3d0eb6d2b71_0_688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Pensando em facilitar a regularização do seu contrato, disponibilizamos opções de negociação e pagamento dos valores em aberto.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Entre as alternativas disponíveis, você pode contar com: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Pagamento no cartão de crédito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Renegociação dos valores em aberto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Possibilidade de reparcelamento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Essas opções foram estruturadas para oferecer mais flexibilidade e viabilizar a regularização de acordo com sua necessidade.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Acesse a plataforma para consultar as condições disponíveis: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</a:t>
            </a:r>
            <a:r>
              <a:rPr lang="pt-BR" sz="586" u="sng">
                <a:solidFill>
                  <a:schemeClr val="hlink"/>
                </a:solidFill>
                <a:latin typeface="Alexandria"/>
                <a:ea typeface="Alexandria"/>
                <a:cs typeface="Alexandria"/>
                <a:sym typeface="Alexandria"/>
                <a:hlinkClick r:id="rId5"/>
              </a:rPr>
              <a:t>https://wa.me/{{TelefoneWhatsApp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84" name="Google Shape;984;g3d0eb6d2b71_0_688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Opções disponíveis para regularização do seu contrato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85" name="Google Shape;985;g3d0eb6d2b71_0_688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Opções para regularizar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Disponibilizamos opções para facilitar a regularização: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Google Shape;990;g3d15892e88b_0_645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g3d15892e88b_0_645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g3d15892e88b_0_645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93" name="Google Shape;993;g3d15892e88b_0_645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3d15892e88b_0_645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g3d15892e88b_0_645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+20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6" name="Google Shape;996;g3d15892e88b_0_645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97" name="Google Shape;997;g3d15892e88b_0_645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temos opções para te ajudar 🤝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98" name="Google Shape;998;g3d15892e88b_0_645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99" name="Google Shape;999;g3d15892e88b_0_645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00" name="Google Shape;1000;g3d15892e88b_0_645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01" name="Google Shape;1001;g3d15892e88b_0_645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02" name="Google Shape;1002;g3d15892e88b_0_645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Temos opções para facilitar a regularização do seu contrato de {{Modalidade do contrato}}: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Podemos te apoiar com alternativas para regularização.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03" name="Google Shape;1003;g3d15892e88b_0_645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04" name="Google Shape;1004;g3d15892e88b_0_645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05" name="Google Shape;1005;g3d15892e88b_0_645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06" name="Google Shape;1006;g3d15892e88b_0_645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07" name="Google Shape;1007;g3d15892e88b_0_645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08" name="Google Shape;1008;g3d15892e88b_0_645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09" name="Google Shape;1009;g3d15892e88b_0_645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10" name="Google Shape;1010;g3d15892e88b_0_645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11" name="Google Shape;1011;g3d15892e88b_0_645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Pensando em facilitar a regularização do seu contrato, disponibilizamos opções de negociação e pagamento dos valores em aberto.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Entre as alternativas disponíveis, você pode contar com: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Pagamento no cartão de crédito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Renegociação dos valores em aberto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Possibilidade de reparcelamento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Essas opções foram estruturadas para oferecer mais flexibilidade e viabilizar a regularização de acordo com sua necessidade.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Acesse a plataforma para consultar as condições disponíveis: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</a:t>
            </a:r>
            <a:r>
              <a:rPr lang="pt-BR" sz="586" u="sng">
                <a:solidFill>
                  <a:schemeClr val="hlink"/>
                </a:solidFill>
                <a:latin typeface="Alexandria"/>
                <a:ea typeface="Alexandria"/>
                <a:cs typeface="Alexandria"/>
                <a:sym typeface="Alexandria"/>
                <a:hlinkClick r:id="rId5"/>
              </a:rPr>
              <a:t>https://wa.me/{{TelefoneWhatsApp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12" name="Google Shape;1012;g3d15892e88b_0_645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Opções disponíveis para regularização do seu contrato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13" name="Google Shape;1013;g3d15892e88b_0_645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Opções disponíveis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Existem opções para facilitar a regularização: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14" name="Google Shape;1014;g3d15892e88b_0_645"/>
          <p:cNvSpPr/>
          <p:nvPr/>
        </p:nvSpPr>
        <p:spPr>
          <a:xfrm>
            <a:off x="5580964" y="183349"/>
            <a:ext cx="1193400" cy="170400"/>
          </a:xfrm>
          <a:prstGeom prst="flowChartAlternateProcess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PNP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g3d0eb6d2b71_0_190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g3d0eb6d2b71_0_190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g3d0eb6d2b71_0_190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22" name="Google Shape;1022;g3d0eb6d2b71_0_190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g3d0eb6d2b71_0_190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g3d0eb6d2b71_0_190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+23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5" name="Google Shape;1025;g3d0eb6d2b71_0_190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26" name="Google Shape;1026;g3d0eb6d2b71_0_190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27" name="Google Shape;1027;g3d0eb6d2b71_0_190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28" name="Google Shape;1028;g3d0eb6d2b71_0_190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29" name="Google Shape;1029;g3d0eb6d2b71_0_190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30" name="Google Shape;1030;g3d0eb6d2b71_0_190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31" name="Google Shape;1031;g3d0eb6d2b71_0_190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32" name="Google Shape;1032;g3d0eb6d2b71_0_190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33" name="Google Shape;1033;g3d0eb6d2b71_0_190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34" name="Google Shape;1034;g3d0eb6d2b71_0_190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35" name="Google Shape;1035;g3d0eb6d2b71_0_190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36" name="Google Shape;1036;g3d0eb6d2b71_0_190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37" name="Google Shape;1037;g3d0eb6d2b71_0_190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38" name="Google Shape;1038;g3d0eb6d2b71_0_190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39" name="Google Shape;1039;g3d0eb6d2b71_0_190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40" name="Google Shape;1040;g3d0eb6d2b71_0_190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Sabemos que manter uma operação ativa envolve diversos desafios no dia a dia, principalmente na gestão financeira.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Neste momento, a regularização das pendências é um passo importante para garantir a continuidade do uso do seu equipamento e evitar impactos na sua operação.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Manter o contrato ativo contribui diretamente para a estabilidade das suas atividades e para a geração de resultados no seu negócio.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facilitar, você pode acessar a plataforma e verificar as opções disponíveis para regularização: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41" name="Google Shape;1041;g3d0eb6d2b71_0_190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Continuidade da sua operação com o equipamento {{Empresa}}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g3d0eb6d2b71_0_216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g3d0eb6d2b71_0_216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g3d0eb6d2b71_0_216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49" name="Google Shape;1049;g3d0eb6d2b71_0_216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g3d0eb6d2b71_0_216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g3d0eb6d2b71_0_216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+25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2" name="Google Shape;1052;g3d0eb6d2b71_0_216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53" name="Google Shape;1053;g3d0eb6d2b71_0_216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vale revisar seu contrato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54" name="Google Shape;1054;g3d0eb6d2b71_0_216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55" name="Google Shape;1055;g3d0eb6d2b71_0_216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56" name="Google Shape;1056;g3d0eb6d2b71_0_216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57" name="Google Shape;1057;g3d0eb6d2b71_0_216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58" name="Google Shape;1058;g3d0eb6d2b71_0_216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Com o tempo, podem ocorrer atualizações nos valores: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Avaliar agora pode ajudar na organização.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59" name="Google Shape;1059;g3d0eb6d2b71_0_216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60" name="Google Shape;1060;g3d0eb6d2b71_0_216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61" name="Google Shape;1061;g3d0eb6d2b71_0_216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62" name="Google Shape;1062;g3d0eb6d2b71_0_216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63" name="Google Shape;1063;g3d0eb6d2b71_0_216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64" name="Google Shape;1064;g3d0eb6d2b71_0_216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65" name="Google Shape;1065;g3d0eb6d2b71_0_216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66" name="Google Shape;1066;g3d0eb6d2b71_0_216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67" name="Google Shape;1067;g3d0eb6d2b71_0_216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que seu contrato permanece em aberto.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Conforme previsto nas condições contratuais, o atraso no pagamento poderá acarretar a incidência de penalidades e encargos adicionais, impactando o valor total da pendência.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neste momento é recomendada para evitar o aumento do saldo em aberto e a continuidade das medidas de cobrança.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Você pode realizar o pagamento de forma simples: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Pelo aplicativo do seu banco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Internet banking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Agências bancárias ou lotéricas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Ou acessar a plataforma para consulta e emissão do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68" name="Google Shape;1068;g3d0eb6d2b71_0_216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Incidência de penalidades e encargos adicionais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69" name="Google Shape;1069;g3d0eb6d2b71_0_216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Atualização de valores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Podem ocorrer atualizações nos valores do contrato: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Avaliar agora pode ajudar na organização.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Regularize para evitar medidas adicionais.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g3d0eb6d2b71_0_247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g3d0eb6d2b71_0_247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g3d0eb6d2b71_0_247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77" name="Google Shape;1077;g3d0eb6d2b71_0_247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g3d0eb6d2b71_0_247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g3d0eb6d2b71_0_247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+31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0" name="Google Shape;1080;g3d0eb6d2b71_0_247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81" name="Google Shape;1081;g3d0eb6d2b71_0_247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houve atualização no status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82" name="Google Shape;1082;g3d0eb6d2b71_0_247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83" name="Google Shape;1083;g3d0eb6d2b71_0_247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84" name="Google Shape;1084;g3d0eb6d2b71_0_247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85" name="Google Shape;1085;g3d0eb6d2b71_0_247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86" name="Google Shape;1086;g3d0eb6d2b71_0_247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atualização relacionada ao contrato. junto aos órgãos de crédito: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permite normalização da situação.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87" name="Google Shape;1087;g3d0eb6d2b71_0_247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88" name="Google Shape;1088;g3d0eb6d2b71_0_247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89" name="Google Shape;1089;g3d0eb6d2b71_0_247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90" name="Google Shape;1090;g3d0eb6d2b71_0_247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91" name="Google Shape;1091;g3d0eb6d2b71_0_247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92" name="Google Shape;1092;g3d0eb6d2b71_0_247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93" name="Google Shape;1093;g3d0eb6d2b71_0_247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94" name="Google Shape;1094;g3d0eb6d2b71_0_247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95" name="Google Shape;1095;g3d0eb6d2b71_0_247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em razão da permanência da inadimplência, seu contrato foi negativado junto aos órgãos de proteção ao crédito.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 medida pode impactar a análise de crédito e a realização de novas operações financeiras.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dos valores em aberto é necessária para atualização da situação e posterior retirada da restrição.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pagamento pode ser realizado por meio da rede bancária: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Aplicativo do seu banco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Internet banking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Agências bancárias ou lotéricas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Ou, se preferir, acesse a plataforma para consulta e emissão do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disposição.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96" name="Google Shape;1096;g3d0eb6d2b71_0_247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Negativação do contrato SERASA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97" name="Google Shape;1097;g3d0eb6d2b71_0_247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Negativação realizada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atualização junto aos órgãos de crédito - Serasa: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permite normalização.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Google Shape;1102;g3d0eb6d2b71_0_275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g3d0eb6d2b71_0_275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g3d0eb6d2b71_0_275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05" name="Google Shape;1105;g3d0eb6d2b71_0_275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g3d0eb6d2b71_0_275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g3d0eb6d2b71_0_275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+35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8" name="Google Shape;1108;g3d0eb6d2b71_0_275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09" name="Google Shape;1109;g3d0eb6d2b71_0_275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10" name="Google Shape;1110;g3d0eb6d2b71_0_275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11" name="Google Shape;1111;g3d0eb6d2b71_0_275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12" name="Google Shape;1112;g3d0eb6d2b71_0_275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13" name="Google Shape;1113;g3d0eb6d2b71_0_275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14" name="Google Shape;1114;g3d0eb6d2b71_0_275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15" name="Google Shape;1115;g3d0eb6d2b71_0_275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16" name="Google Shape;1116;g3d0eb6d2b71_0_275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17" name="Google Shape;1117;g3d0eb6d2b71_0_275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18" name="Google Shape;1118;g3d0eb6d2b71_0_275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19" name="Google Shape;1119;g3d0eb6d2b71_0_275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20" name="Google Shape;1120;g3d0eb6d2b71_0_275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21" name="Google Shape;1121;g3d0eb6d2b71_0_275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22" name="Google Shape;1122;g3d0eb6d2b71_0_275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23" name="Google Shape;1123;g3d0eb6d2b71_0_275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Em momentos de ajuste financeiro, a organização das pendências é um passo importante para retomar o controle e manter a continuidade das operações.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dos valores em aberto contribui para a manutenção do contrato ativo e para evitar a evolução das medidas de cobrança.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Além disso, manter a situação regularizada auxilia na preservação da sua saúde financeira e na gestão do seu negócio no médio e longo prazo.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facilitar, você pode acessar a plataforma e consultar as opções disponíveis: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 para te ajudar.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24" name="Google Shape;1124;g3d0eb6d2b71_0_275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Organização financeira e continuidade do contrato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9" name="Google Shape;1129;g3d0eb6d2b71_0_301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g3d0eb6d2b71_0_301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g3d0eb6d2b71_0_301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32" name="Google Shape;1132;g3d0eb6d2b71_0_301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g3d0eb6d2b71_0_301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g3d0eb6d2b71_0_301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+40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5" name="Google Shape;1135;g3d0eb6d2b71_0_301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36" name="Google Shape;1136;g3d0eb6d2b71_0_301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seu contrato segue em aberto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37" name="Google Shape;1137;g3d0eb6d2b71_0_301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38" name="Google Shape;1138;g3d0eb6d2b71_0_301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39" name="Google Shape;1139;g3d0eb6d2b71_0_301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40" name="Google Shape;1140;g3d0eb6d2b71_0_301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41" name="Google Shape;1141;g3d0eb6d2b71_0_301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pode avançar para novas etapas previstas: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42" name="Google Shape;1142;g3d0eb6d2b71_0_301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43" name="Google Shape;1143;g3d0eb6d2b71_0_301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44" name="Google Shape;1144;g3d0eb6d2b71_0_301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45" name="Google Shape;1145;g3d0eb6d2b71_0_301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46" name="Google Shape;1146;g3d0eb6d2b71_0_301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47" name="Google Shape;1147;g3d0eb6d2b71_0_301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48" name="Google Shape;1148;g3d0eb6d2b71_0_301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49" name="Google Shape;1149;g3d0eb6d2b71_0_301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50" name="Google Shape;1150;g3d0eb6d2b71_0_301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que seu contrato permanece em aberto.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Conforme previsto nas condições contratuais, o atraso no pagamento poderá acarretar a incidência de penalidades e encargos adicionais, impactando o valor total da pendência.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neste momento é recomendada para evitar o aumento do saldo em aberto e a continuidade das medidas de cobrança.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Você pode realizar o pagamento de forma simples: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Pelo aplicativo do seu banco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Internet banking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Agências bancárias ou lotéricas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Ou acessar a plataforma para consulta e emissão do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51" name="Google Shape;1151;g3d0eb6d2b71_0_301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Incidência de penalidades e encargos adicionais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52" name="Google Shape;1152;g3d0eb6d2b71_0_301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Próximas etapas do contrato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pode avançar para novas etapas: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avaliar a regularização.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g3d0eb6d2b71_0_328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g3d0eb6d2b71_0_328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g3d0eb6d2b71_0_328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60" name="Google Shape;1160;g3d0eb6d2b71_0_328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g3d0eb6d2b71_0_328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g3d0eb6d2b71_0_328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+46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3" name="Google Shape;1163;g3d0eb6d2b71_0_328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64" name="Google Shape;1164;g3d0eb6d2b71_0_328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atenção ao contrato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65" name="Google Shape;1165;g3d0eb6d2b71_0_328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66" name="Google Shape;1166;g3d0eb6d2b71_0_328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67" name="Google Shape;1167;g3d0eb6d2b71_0_328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68" name="Google Shape;1168;g3d0eb6d2b71_0_328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69" name="Google Shape;1169;g3d0eb6d2b71_0_328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pode seguir para registro em cartório: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evita essa evolução.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70" name="Google Shape;1170;g3d0eb6d2b71_0_328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71" name="Google Shape;1171;g3d0eb6d2b71_0_328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72" name="Google Shape;1172;g3d0eb6d2b71_0_328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73" name="Google Shape;1173;g3d0eb6d2b71_0_328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74" name="Google Shape;1174;g3d0eb6d2b71_0_328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75" name="Google Shape;1175;g3d0eb6d2b71_0_328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76" name="Google Shape;1176;g3d0eb6d2b71_0_328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77" name="Google Shape;1177;g3d0eb6d2b71_0_328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78" name="Google Shape;1178;g3d0eb6d2b71_0_328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que seu contrato permanece em aberto.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Conforme previsto nas condições contratuais, o atraso no pagamento poderá acarretar a incidência de penalidades e encargos adicionais, impactando o valor total da pendência.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neste momento é recomendada para evitar o aumento do saldo em aberto e a continuidade das medidas de cobrança.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Você pode realizar o pagamento de forma simples: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Pelo aplicativo do seu banco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Internet banking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Agências bancárias ou lotéricas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Ou acessar a plataforma para consulta e emissão do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79" name="Google Shape;1179;g3d0eb6d2b71_0_328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Incidência de penalidades e encargos adicionais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80" name="Google Shape;1180;g3d0eb6d2b71_0_328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 Atenção ao contrato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pode seguir para registro formal: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evita essa evolução.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5" name="Google Shape;1185;g3d0eb6d2b71_0_415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g3d0eb6d2b71_0_415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g3d0eb6d2b71_0_415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88" name="Google Shape;1188;g3d0eb6d2b71_0_415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g3d0eb6d2b71_0_415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g3d0eb6d2b71_0_415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+50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1" name="Google Shape;1191;g3d0eb6d2b71_0_415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92" name="Google Shape;1192;g3d0eb6d2b71_0_415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temos opções disponíveis 🤝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93" name="Google Shape;1193;g3d0eb6d2b71_0_415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94" name="Google Shape;1194;g3d0eb6d2b71_0_415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95" name="Google Shape;1195;g3d0eb6d2b71_0_415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96" name="Google Shape;1196;g3d0eb6d2b71_0_415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97" name="Google Shape;1197;g3d0eb6d2b71_0_415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Você ainda pode regularizar com opções flexíveis: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98" name="Google Shape;1198;g3d0eb6d2b71_0_415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199" name="Google Shape;1199;g3d0eb6d2b71_0_415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00" name="Google Shape;1200;g3d0eb6d2b71_0_415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01" name="Google Shape;1201;g3d0eb6d2b71_0_415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02" name="Google Shape;1202;g3d0eb6d2b71_0_415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03" name="Google Shape;1203;g3d0eb6d2b71_0_415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04" name="Google Shape;1204;g3d0eb6d2b71_0_415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05" name="Google Shape;1205;g3d0eb6d2b71_0_415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06" name="Google Shape;1206;g3d0eb6d2b71_0_415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Pensando em facilitar a regularização do seu contrato, disponibilizamos opções de negociação e pagamento dos valores em aberto.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Entre as alternativas disponíveis, você pode contar com: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Pagamento no cartão de crédito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Renegociação dos valores em aberto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Possibilidade de reparcelamento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Essas opções foram estruturadas para oferecer mais flexibilidade e viabilizar a regularização de acordo com sua necessidade.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Acesse a plataforma para consultar as condições disponíveis: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</a:t>
            </a:r>
            <a:r>
              <a:rPr lang="pt-BR" sz="586" u="sng">
                <a:solidFill>
                  <a:schemeClr val="hlink"/>
                </a:solidFill>
                <a:latin typeface="Alexandria"/>
                <a:ea typeface="Alexandria"/>
                <a:cs typeface="Alexandria"/>
                <a:sym typeface="Alexandria"/>
                <a:hlinkClick r:id="rId5"/>
              </a:rPr>
              <a:t>https://wa.me/{{TelefoneWhatsApp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07" name="Google Shape;1207;g3d0eb6d2b71_0_415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Opções disponíveis para regularização do seu contrato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08" name="Google Shape;1208;g3d0eb6d2b71_0_415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Podemos te ajudar 🤝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Ainda existem opções para regularização: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Consulte e escolha a melhor alternativa.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3" name="Google Shape;1213;g3d0eb6d2b71_0_389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g3d0eb6d2b71_0_389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g3d0eb6d2b71_0_389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16" name="Google Shape;1216;g3d0eb6d2b71_0_389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g3d0eb6d2b71_0_389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g3d0eb6d2b71_0_389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+55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9" name="Google Shape;1219;g3d0eb6d2b71_0_389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20" name="Google Shape;1220;g3d0eb6d2b71_0_389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21" name="Google Shape;1221;g3d0eb6d2b71_0_389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22" name="Google Shape;1222;g3d0eb6d2b71_0_389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23" name="Google Shape;1223;g3d0eb6d2b71_0_389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24" name="Google Shape;1224;g3d0eb6d2b71_0_389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25" name="Google Shape;1225;g3d0eb6d2b71_0_389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26" name="Google Shape;1226;g3d0eb6d2b71_0_389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27" name="Google Shape;1227;g3d0eb6d2b71_0_389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28" name="Google Shape;1228;g3d0eb6d2b71_0_389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29" name="Google Shape;1229;g3d0eb6d2b71_0_389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30" name="Google Shape;1230;g3d0eb6d2b71_0_389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31" name="Google Shape;1231;g3d0eb6d2b71_0_389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32" name="Google Shape;1232;g3d0eb6d2b71_0_389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33" name="Google Shape;1233;g3d0eb6d2b71_0_389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34" name="Google Shape;1234;g3d0eb6d2b71_0_389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{{Nome}}.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Esperamos que esteja bem.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Reforçamos que a regularização dentro do prazo é fundamental para evitar a incidência de cobranças adicionais, como juros, multas e demais encargos previstos em contrato.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Em meio a esse cenário, a organização financeira se torna essencial para garantir a continuidade do negócio.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Contratos: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Nosso objetivo é apoiá-lo nesse processo de forma simples, transparente e alinhada à sua realidade. Estamos à disposição para: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💳 Envio ou atualização de boleto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🔁 Orientações sobre formas de pagamento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🤝 Avaliação de alternativas para regularização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consultar ou emitir os boletos, acesse o painel do cliente Blips: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preferir, você também pode falar conosco diretamente pelo WhatsApp, clicando no link abaixo: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Aguardamos seu retorno imediato.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35" name="Google Shape;1235;g3d0eb6d2b71_0_389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Regularize o pagamento e evite cobranças adicionais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g3d0eb6d2b71_0_442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g3d0eb6d2b71_0_442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g3d0eb6d2b71_0_442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43" name="Google Shape;1243;g3d0eb6d2b71_0_442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g3d0eb6d2b71_0_442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g3d0eb6d2b71_0_442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+61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6" name="Google Shape;1246;g3d0eb6d2b71_0_442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47" name="Google Shape;1247;g3d0eb6d2b71_0_442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enviamos uma comunicação por cartório📄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48" name="Google Shape;1248;g3d0eb6d2b71_0_442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49" name="Google Shape;1249;g3d0eb6d2b71_0_442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50" name="Google Shape;1250;g3d0eb6d2b71_0_442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51" name="Google Shape;1251;g3d0eb6d2b71_0_442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52" name="Google Shape;1252;g3d0eb6d2b71_0_442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Foi enviada notificação de Protesto através do cartório para seu endereço: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53" name="Google Shape;1253;g3d0eb6d2b71_0_442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54" name="Google Shape;1254;g3d0eb6d2b71_0_442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55" name="Google Shape;1255;g3d0eb6d2b71_0_442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56" name="Google Shape;1256;g3d0eb6d2b71_0_442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57" name="Google Shape;1257;g3d0eb6d2b71_0_442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58" name="Google Shape;1258;g3d0eb6d2b71_0_442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59" name="Google Shape;1259;g3d0eb6d2b71_0_442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60" name="Google Shape;1260;g3d0eb6d2b71_0_442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61" name="Google Shape;1261;g3d0eb6d2b71_0_442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 foi encaminhada uma notificação extrajudicial ao seu endereço cadastrado, em razão da permanência da inadimplência.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 medida reforça a necessidade de regularização dos valores em aberto, conforme previsto nas condições contratuais vigentes.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não regularização poderá resultar na continuidade das medidas de cobrança, incluindo ações administrativas e legais cabíveis.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regularizar, acesse a plataforma: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62" name="Google Shape;1262;g3d0eb6d2b71_0_442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Notificação extrajudicial enviada por correio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63" name="Google Shape;1263;g3d0eb6d2b71_0_442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Comunicação formal enviada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Foi enviada notificação de Protesto através do cartório para seu endereço: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Regularize sua pendência para evitar novas medidas.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8" name="Google Shape;1268;g3d0eb6d2b71_0_473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g3d0eb6d2b71_0_473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g3d0eb6d2b71_0_473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71" name="Google Shape;1271;g3d0eb6d2b71_0_473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g3d0eb6d2b71_0_473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g3d0eb6d2b71_0_473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+65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4" name="Google Shape;1274;g3d0eb6d2b71_0_473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75" name="Google Shape;1275;g3d0eb6d2b71_0_473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76" name="Google Shape;1276;g3d0eb6d2b71_0_473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77" name="Google Shape;1277;g3d0eb6d2b71_0_473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78" name="Google Shape;1278;g3d0eb6d2b71_0_473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79" name="Google Shape;1279;g3d0eb6d2b71_0_473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80" name="Google Shape;1280;g3d0eb6d2b71_0_473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81" name="Google Shape;1281;g3d0eb6d2b71_0_473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82" name="Google Shape;1282;g3d0eb6d2b71_0_473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83" name="Google Shape;1283;g3d0eb6d2b71_0_473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84" name="Google Shape;1284;g3d0eb6d2b71_0_473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85" name="Google Shape;1285;g3d0eb6d2b71_0_473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86" name="Google Shape;1286;g3d0eb6d2b71_0_473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87" name="Google Shape;1287;g3d0eb6d2b71_0_473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88" name="Google Shape;1288;g3d0eb6d2b71_0_473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89" name="Google Shape;1289;g3d0eb6d2b71_0_473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{{Nome}},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Manter a saúde financeira do contrato é essencial para garantir a continuidade da operação, previsibilidade de custos e o pleno funcionamento dos equipamentos contratados.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títulos que seguem pendentes de regularização, conforme relação abaixo: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Títulos: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contribui diretamente para: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📊 Preservar a saúde financeira do contrato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🤝 Manter o contrato ativo e regular, sem impactos operacionais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🚜 Garantir a continuidade do uso dos equipamentos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⚙️ Evitar encargos adicionais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Nosso objetivo é apoiá-lo nesse processo de forma simples e alinhada à sua realidade.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Fale conosco diretamente pelo WhatsApp, clicando no link abaixo: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90" name="Google Shape;1290;g3d0eb6d2b71_0_473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Saúde financeira e continuidade do seu contrato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g3d0eb6d2b71_0_499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g3d0eb6d2b71_0_499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g3d0eb6d2b71_0_499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98" name="Google Shape;1298;g3d0eb6d2b71_0_499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g3d0eb6d2b71_0_499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g3d0eb6d2b71_0_499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+70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1" name="Google Shape;1301;g3d0eb6d2b71_0_499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02" name="Google Shape;1302;g3d0eb6d2b71_0_499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o prazo está avançando ⏰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03" name="Google Shape;1303;g3d0eb6d2b71_0_499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04" name="Google Shape;1304;g3d0eb6d2b71_0_499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05" name="Google Shape;1305;g3d0eb6d2b71_0_499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06" name="Google Shape;1306;g3d0eb6d2b71_0_499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07" name="Google Shape;1307;g3d0eb6d2b71_0_499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está próximo do limite previsto: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avaliar a regularização.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08" name="Google Shape;1308;g3d0eb6d2b71_0_499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09" name="Google Shape;1309;g3d0eb6d2b71_0_499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Prazo avançando ⏰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está próximo do limite previsto: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Orientamos avaliar a regularização.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10" name="Google Shape;1310;g3d0eb6d2b71_0_499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11" name="Google Shape;1311;g3d0eb6d2b71_0_499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12" name="Google Shape;1312;g3d0eb6d2b71_0_499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13" name="Google Shape;1313;g3d0eb6d2b71_0_499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14" name="Google Shape;1314;g3d0eb6d2b71_0_499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15" name="Google Shape;1315;g3d0eb6d2b71_0_499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16" name="Google Shape;1316;g3d0eb6d2b71_0_499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que seu contrato permanece com pendências em aberto.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Reforçamos que o prazo para regularização está se encerrando. A não regularização poderá resultar na continuidade das medidas previstas contratualmente, bem como na incidência de encargos adicionais e impactos à manutenção do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⏰ Solicitamos a regularização ou retorno em até 24 horas após o recebimento desta comunicação.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Você pode realizar o pagamento de forma simples: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Pelo aplicativo do seu banco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Internet banking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Agências bancárias ou lotéricas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Ou acessar a plataforma para consulta e emissão do boleto: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17" name="Google Shape;1317;g3d0eb6d2b71_0_499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 Prazo final para regularização – ação necessária em 24h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2" name="Google Shape;1322;g3d0eb6d2b71_0_531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g3d0eb6d2b71_0_531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g3d0eb6d2b71_0_531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25" name="Google Shape;1325;g3d0eb6d2b71_0_531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g3d0eb6d2b71_0_531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g3d0eb6d2b71_0_531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+75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8" name="Google Shape;1328;g3d0eb6d2b71_0_531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29" name="Google Shape;1329;g3d0eb6d2b71_0_531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30" name="Google Shape;1330;g3d0eb6d2b71_0_531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31" name="Google Shape;1331;g3d0eb6d2b71_0_531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32" name="Google Shape;1332;g3d0eb6d2b71_0_531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33" name="Google Shape;1333;g3d0eb6d2b71_0_531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34" name="Google Shape;1334;g3d0eb6d2b71_0_531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35" name="Google Shape;1335;g3d0eb6d2b71_0_531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36" name="Google Shape;1336;g3d0eb6d2b71_0_531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37" name="Google Shape;1337;g3d0eb6d2b71_0_531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38" name="Google Shape;1338;g3d0eb6d2b71_0_531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39" name="Google Shape;1339;g3d0eb6d2b71_0_531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40" name="Google Shape;1340;g3d0eb6d2b71_0_531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41" name="Google Shape;1341;g3d0eb6d2b71_0_531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42" name="Google Shape;1342;g3d0eb6d2b71_0_531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43" name="Google Shape;1343;g3d0eb6d2b71_0_531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Pensando em facilitar a regularização do seu contrato, disponibilizamos opções de negociação e pagamento dos valores em aberto.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Entre as alternativas disponíveis, você pode contar com: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Pagamento no cartão de crédito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Renegociação dos valores em aberto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• Possibilidade de reparcelamento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Essas opções foram estruturadas para oferecer mais flexibilidade e viabilizar a regularização de acordo com sua necessidade.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Acesse a plataforma para consultar as condições disponíveis: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</a:t>
            </a:r>
            <a:r>
              <a:rPr lang="pt-BR" sz="586" u="sng">
                <a:solidFill>
                  <a:schemeClr val="hlink"/>
                </a:solidFill>
                <a:latin typeface="Alexandria"/>
                <a:ea typeface="Alexandria"/>
                <a:cs typeface="Alexandria"/>
                <a:sym typeface="Alexandria"/>
                <a:hlinkClick r:id="rId5"/>
              </a:rPr>
              <a:t>https://wa.me/{{TelefoneWhatsApp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44" name="Google Shape;1344;g3d0eb6d2b71_0_531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Opções disponíveis para regularização do seu contrato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45" name="Google Shape;1345;g3d0eb6d2b71_0_531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0" name="Google Shape;1350;g3d0eb6d2b71_0_559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" name="Google Shape;1351;g3d0eb6d2b71_0_559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g3d0eb6d2b71_0_559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53" name="Google Shape;1353;g3d0eb6d2b71_0_559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g3d0eb6d2b71_0_559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g3d0eb6d2b71_0_559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+80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6" name="Google Shape;1356;g3d0eb6d2b71_0_559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57" name="Google Shape;1357;g3d0eb6d2b71_0_559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58" name="Google Shape;1358;g3d0eb6d2b71_0_559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59" name="Google Shape;1359;g3d0eb6d2b71_0_559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60" name="Google Shape;1360;g3d0eb6d2b71_0_559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61" name="Google Shape;1361;g3d0eb6d2b71_0_559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62" name="Google Shape;1362;g3d0eb6d2b71_0_559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63" name="Google Shape;1363;g3d0eb6d2b71_0_559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64" name="Google Shape;1364;g3d0eb6d2b71_0_559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65" name="Google Shape;1365;g3d0eb6d2b71_0_559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66" name="Google Shape;1366;g3d0eb6d2b71_0_559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67" name="Google Shape;1367;g3d0eb6d2b71_0_559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68" name="Google Shape;1368;g3d0eb6d2b71_0_559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69" name="Google Shape;1369;g3d0eb6d2b71_0_559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70" name="Google Shape;1370;g3d0eb6d2b71_0_559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71" name="Google Shape;1371;g3d0eb6d2b71_0_559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contrato permanece com pendências em aberto até o momento.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caso não haja regularização imediata, o contrato poderá ser cancelado, conforme previsto nas condições contratuais, com a consequente descontinuidade definitiva da utilização do equipamento.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 medida poderá impactar diretamente a sua operação, incluindo a interrupção dos serviços e a necessidade de retirada dos equipamentos.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Dessa forma, reforçamos que este é um momento crítico para regularização das pendências.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72" name="Google Shape;1372;g3d0eb6d2b71_0_559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Ação necessária imediata – risco de cancelamento do contrato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73" name="Google Shape;1373;g3d0eb6d2b71_0_559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8" name="Google Shape;1378;g3d0eb6d2b71_0_587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g3d0eb6d2b71_0_587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g3d0eb6d2b71_0_587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81" name="Google Shape;1381;g3d0eb6d2b71_0_587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g3d0eb6d2b71_0_587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g3d0eb6d2b71_0_587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+85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4" name="Google Shape;1384;g3d0eb6d2b71_0_587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85" name="Google Shape;1385;g3d0eb6d2b71_0_587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etapa importante do contrato ⚠️</a:t>
            </a: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86" name="Google Shape;1386;g3d0eb6d2b71_0_587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87" name="Google Shape;1387;g3d0eb6d2b71_0_587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88" name="Google Shape;1388;g3d0eb6d2b71_0_587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89" name="Google Shape;1389;g3d0eb6d2b71_0_587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90" name="Google Shape;1390;g3d0eb6d2b71_0_587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está próximo da etapa de cancelamento: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pode manter a operação ativa.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91" name="Google Shape;1391;g3d0eb6d2b71_0_587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92" name="Google Shape;1392;g3d0eb6d2b71_0_587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93" name="Google Shape;1393;g3d0eb6d2b71_0_587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94" name="Google Shape;1394;g3d0eb6d2b71_0_587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95" name="Google Shape;1395;g3d0eb6d2b71_0_587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96" name="Google Shape;1396;g3d0eb6d2b71_0_587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97" name="Google Shape;1397;g3d0eb6d2b71_0_587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98" name="Google Shape;1398;g3d0eb6d2b71_0_587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 é a última oportunidade para regularização amigável do seu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que o contrato permaneça ativo e o equipamento possa ser desbloqueado para uso, possibilitando a continuidade da sua operação e a geração de receitas, solicitamos a regularização ou retorno em até 24 horas após o recebimento desta comunicação.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caso não haja regularização imediata, o contrato poderá ser cancelado, conforme previsto nas condições contratuais, com a consequente descontinuidade definitiva da utilização do equipamento.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 medida poderá impactar diretamente a sua operação, incluindo a interrupção dos serviços e a necessidade de retirada dos equipamentos.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Dessa forma, reforçamos que este é um momento crítico para regularização das pendências.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99" name="Google Shape;1399;g3d0eb6d2b71_0_587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Última oportunidade para regularização do contrato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00" name="Google Shape;1400;g3d0eb6d2b71_0_587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Etapa importante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está próximo da etapa de cancelamento: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Ainda é possível regularizar e manter a operação.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5" name="Google Shape;1405;g3d15892e88b_0_709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g3d15892e88b_0_709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g3d15892e88b_0_709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08" name="Google Shape;1408;g3d15892e88b_0_709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g3d15892e88b_0_709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g3d15892e88b_0_709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+85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1" name="Google Shape;1411;g3d15892e88b_0_709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12" name="Google Shape;1412;g3d15892e88b_0_709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etapa importante do contrato ⚠️</a:t>
            </a: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13" name="Google Shape;1413;g3d15892e88b_0_709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14" name="Google Shape;1414;g3d15892e88b_0_709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15" name="Google Shape;1415;g3d15892e88b_0_709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16" name="Google Shape;1416;g3d15892e88b_0_709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17" name="Google Shape;1417;g3d15892e88b_0_709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Seu contrato está próximo de uma mudança relevante nas condições financeiras.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neste momento ajuda a manter as condições atuais e evitar a antecipação de valores.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18" name="Google Shape;1418;g3d15892e88b_0_709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19" name="Google Shape;1419;g3d15892e88b_0_709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20" name="Google Shape;1420;g3d15892e88b_0_709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21" name="Google Shape;1421;g3d15892e88b_0_709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22" name="Google Shape;1422;g3d15892e88b_0_709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23" name="Google Shape;1423;g3d15892e88b_0_709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24" name="Google Shape;1424;g3d15892e88b_0_709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25" name="Google Shape;1425;g3d15892e88b_0_709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que seu contrato segue com valores em aberto e está próximo de uma etapa relevante prevista nas condições contratuais.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neste momento é importante para evitar a antecipação das parcelas do contrato, com a atualização do saldo total da dívida.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a situação permaneça sem regularização, o contrato poderá evoluir para as medidas previstas em contrato e na legislação aplicável, incluindo procedimentos relacionados à recuperação do bem financiado.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Nosso objetivo é te apoiar na organização do contrato antes dessa etapa.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Podemos te orientar por aqui: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o pagamento já tenha sido realizado, por favor desconsidere esta mensagem ou envie o comprovante para atualização do sistema.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à disposição para te ajudar.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26" name="Google Shape;1426;g3d15892e88b_0_709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{{Empresa}} | Atualização importante sobre seu contrato</a:t>
            </a:r>
            <a:endParaRPr b="0" i="0" sz="6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27" name="Google Shape;1427;g3d15892e88b_0_709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Etapa importante do contrato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pode passar por mudanças nas condições: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Avaliar agora ajuda a manter as condições atuais.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28" name="Google Shape;1428;g3d15892e88b_0_709"/>
          <p:cNvSpPr/>
          <p:nvPr/>
        </p:nvSpPr>
        <p:spPr>
          <a:xfrm>
            <a:off x="5580964" y="208871"/>
            <a:ext cx="1193400" cy="170400"/>
          </a:xfrm>
          <a:prstGeom prst="flowChartAlternateProcess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FINZA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" name="Google Shape;1433;g3d0eb6d2b71_0_645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g3d0eb6d2b71_0_645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g3d0eb6d2b71_0_645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36" name="Google Shape;1436;g3d0eb6d2b71_0_645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g3d0eb6d2b71_0_645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g3d0eb6d2b71_0_645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+87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9" name="Google Shape;1439;g3d0eb6d2b71_0_645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40" name="Google Shape;1440;g3d0eb6d2b71_0_645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atualização importante ⚠️</a:t>
            </a: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41" name="Google Shape;1441;g3d0eb6d2b71_0_645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42" name="Google Shape;1442;g3d0eb6d2b71_0_645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43" name="Google Shape;1443;g3d0eb6d2b71_0_645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44" name="Google Shape;1444;g3d0eb6d2b71_0_645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45" name="Google Shape;1445;g3d0eb6d2b71_0_645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está em fase avançada: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Pode impactar a continuidade da utilização do {{Nome do equipamento}}.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46" name="Google Shape;1446;g3d0eb6d2b71_0_645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47" name="Google Shape;1447;g3d0eb6d2b71_0_645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48" name="Google Shape;1448;g3d0eb6d2b71_0_645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49" name="Google Shape;1449;g3d0eb6d2b71_0_645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50" name="Google Shape;1450;g3d0eb6d2b71_0_645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51" name="Google Shape;1451;g3d0eb6d2b71_0_645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52" name="Google Shape;1452;g3d0eb6d2b71_0_645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53" name="Google Shape;1453;g3d0eb6d2b71_0_645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 é a última oportunidade para regularização amigável do seu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que o contrato permaneça ativo e o equipamento possa ser desbloqueado para uso, possibilitando a continuidade da sua operação e a geração de receitas, solicitamos a regularização ou retorno em até 24 horas após o recebimento desta comunicação.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caso não haja regularização imediata, o contrato poderá ser cancelado, conforme previsto nas condições contratuais, com a consequente descontinuidade definitiva da utilização do equipamento.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 medida poderá impactar diretamente a sua operação, incluindo a interrupção dos serviços e a necessidade de retirada dos equipamentos.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Dessa forma, reforçamos que este é um momento crítico para regularização das pendências.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54" name="Google Shape;1454;g3d0eb6d2b71_0_645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Notificação de cancelamento do contrato e retirada de equipamentos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55" name="Google Shape;1455;g3d0eb6d2b71_0_645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Notificação de cancelamento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está em fase avançada: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Pode impactar a continuidade da utilização do equipamento.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0" name="Google Shape;1460;g3d15892e88b_0_736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1" name="Google Shape;1461;g3d15892e88b_0_736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g3d15892e88b_0_736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63" name="Google Shape;1463;g3d15892e88b_0_736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Inadimplência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g3d15892e88b_0_736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g3d15892e88b_0_736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+87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6" name="Google Shape;1466;g3d15892e88b_0_736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67" name="Google Shape;1467;g3d15892e88b_0_736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atualização importante sobre seu contrato ⚠️</a:t>
            </a: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68" name="Google Shape;1468;g3d15892e88b_0_736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69" name="Google Shape;1469;g3d15892e88b_0_736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70" name="Google Shape;1470;g3d15892e88b_0_736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71" name="Google Shape;1471;g3d15892e88b_0_736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72" name="Google Shape;1472;g3d15892e88b_0_736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está em fase avançada e pode ocorrer a antecipação das parcelas previstas.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avaliar a regularização ou falar com a gente para orientação.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73" name="Google Shape;1473;g3d15892e88b_0_736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74" name="Google Shape;1474;g3d15892e88b_0_736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75" name="Google Shape;1475;g3d15892e88b_0_736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76" name="Google Shape;1476;g3d15892e88b_0_736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77" name="Google Shape;1477;g3d15892e88b_0_736"/>
          <p:cNvSpPr/>
          <p:nvPr/>
        </p:nvSpPr>
        <p:spPr>
          <a:xfrm>
            <a:off x="230584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Solicitar pagamento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78" name="Google Shape;1478;g3d15892e88b_0_736"/>
          <p:cNvSpPr/>
          <p:nvPr/>
        </p:nvSpPr>
        <p:spPr>
          <a:xfrm>
            <a:off x="322930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Enviar comprovante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79" name="Google Shape;1479;g3d15892e88b_0_736"/>
          <p:cNvSpPr/>
          <p:nvPr/>
        </p:nvSpPr>
        <p:spPr>
          <a:xfrm>
            <a:off x="59360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Consultar minha conta (link para plataforma)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80" name="Google Shape;1480;g3d15892e88b_0_736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seu contrato encontra-se em fase avançada e poderá ocorrer a antecipação das parcelas previstas, conforme condições contratuais.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 regularização neste momento é fundamental para evitar a consolidação do saldo total do contrato e a evolução para novas etapas previstas.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não haja atualização, poderão ser aplicadas as medidas previstas em contrato, incluindo procedimentos formais relacionados à recuperação do bem financiado.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verificar os detalhes e realizar a regularização, acesse: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o pagamento já tiver sido realizado, pedimos a gentileza de desconsiderar esta mensagem ou encaminhar o comprovante para atualização do sistema.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 ou quiser entender as opções disponíveis, nossa equipe está à disposição: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81" name="Google Shape;1481;g3d15892e88b_0_736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{{Empresa}} - Atualização importante sobre o seu contrato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82" name="Google Shape;1482;g3d15892e88b_0_736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Atualização importante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pode passar por antecipação das parcelas: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83" name="Google Shape;1483;g3d15892e88b_0_736"/>
          <p:cNvSpPr/>
          <p:nvPr/>
        </p:nvSpPr>
        <p:spPr>
          <a:xfrm>
            <a:off x="5580964" y="208871"/>
            <a:ext cx="1193400" cy="170400"/>
          </a:xfrm>
          <a:prstGeom prst="flowChartAlternateProcess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FINZA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488;g3b1ced83868_0_1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3776" y="1619074"/>
            <a:ext cx="4903475" cy="14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g3b1ced83868_0_1288"/>
          <p:cNvSpPr txBox="1"/>
          <p:nvPr/>
        </p:nvSpPr>
        <p:spPr>
          <a:xfrm>
            <a:off x="5673813" y="3417903"/>
            <a:ext cx="21387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Etapa de Execução</a:t>
            </a:r>
            <a:endParaRPr b="0" i="0" sz="1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0" name="Google Shape;1490;g3b1ced83868_0_1288"/>
          <p:cNvSpPr txBox="1"/>
          <p:nvPr/>
        </p:nvSpPr>
        <p:spPr>
          <a:xfrm>
            <a:off x="5673813" y="3703203"/>
            <a:ext cx="32322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Distrato </a:t>
            </a:r>
            <a:br>
              <a:rPr b="1" i="0" lang="pt-BR" sz="17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pt-BR" sz="17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(Liquidação Financeira)</a:t>
            </a:r>
            <a:endParaRPr b="1" i="0" sz="17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3b0c93173ad_0_564"/>
          <p:cNvSpPr/>
          <p:nvPr/>
        </p:nvSpPr>
        <p:spPr>
          <a:xfrm>
            <a:off x="2987793" y="2267953"/>
            <a:ext cx="810900" cy="8109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t/>
            </a:r>
            <a:endParaRPr b="0" i="0" sz="13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g3b0c93173ad_0_564"/>
          <p:cNvSpPr txBox="1"/>
          <p:nvPr/>
        </p:nvSpPr>
        <p:spPr>
          <a:xfrm>
            <a:off x="2987793" y="2555427"/>
            <a:ext cx="810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rPr b="1" i="0" lang="pt-BR" sz="131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D+91</a:t>
            </a:r>
            <a:endParaRPr b="1" i="0" sz="131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7" name="Google Shape;1497;g3b0c93173ad_0_564"/>
          <p:cNvSpPr txBox="1"/>
          <p:nvPr/>
        </p:nvSpPr>
        <p:spPr>
          <a:xfrm>
            <a:off x="2987793" y="2454096"/>
            <a:ext cx="8109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rPr b="0" i="0" lang="pt-BR" sz="938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938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8" name="Google Shape;1498;g3b0c93173ad_0_564"/>
          <p:cNvSpPr/>
          <p:nvPr/>
        </p:nvSpPr>
        <p:spPr>
          <a:xfrm>
            <a:off x="4031863" y="2267953"/>
            <a:ext cx="810900" cy="8109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t/>
            </a:r>
            <a:endParaRPr b="0" i="0" sz="13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g3b0c93173ad_0_564"/>
          <p:cNvSpPr txBox="1"/>
          <p:nvPr/>
        </p:nvSpPr>
        <p:spPr>
          <a:xfrm>
            <a:off x="4031863" y="2555427"/>
            <a:ext cx="810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rPr b="1" i="0" lang="pt-BR" sz="131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D+96</a:t>
            </a:r>
            <a:endParaRPr b="1" i="0" sz="131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0" name="Google Shape;1500;g3b0c93173ad_0_564"/>
          <p:cNvSpPr txBox="1"/>
          <p:nvPr/>
        </p:nvSpPr>
        <p:spPr>
          <a:xfrm>
            <a:off x="4031863" y="2454096"/>
            <a:ext cx="8109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Font typeface="Arial"/>
              <a:buNone/>
            </a:pPr>
            <a:r>
              <a:rPr b="0" i="0" lang="pt-BR" sz="938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938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1" name="Google Shape;1501;g3b0c93173ad_0_564"/>
          <p:cNvSpPr/>
          <p:nvPr/>
        </p:nvSpPr>
        <p:spPr>
          <a:xfrm>
            <a:off x="5075932" y="2267953"/>
            <a:ext cx="810900" cy="8109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t/>
            </a:r>
            <a:endParaRPr b="0" i="0" sz="13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g3b0c93173ad_0_564"/>
          <p:cNvSpPr txBox="1"/>
          <p:nvPr/>
        </p:nvSpPr>
        <p:spPr>
          <a:xfrm>
            <a:off x="5075932" y="2555427"/>
            <a:ext cx="810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rPr b="1" i="0" lang="pt-BR" sz="131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D+99</a:t>
            </a:r>
            <a:endParaRPr b="1" i="0" sz="131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3" name="Google Shape;1503;g3b0c93173ad_0_564"/>
          <p:cNvSpPr txBox="1"/>
          <p:nvPr/>
        </p:nvSpPr>
        <p:spPr>
          <a:xfrm>
            <a:off x="5075932" y="2454096"/>
            <a:ext cx="8109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Font typeface="Arial"/>
              <a:buNone/>
            </a:pPr>
            <a:r>
              <a:rPr b="0" i="0" lang="pt-BR" sz="938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938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4" name="Google Shape;1504;g3b0c93173ad_0_564"/>
          <p:cNvSpPr/>
          <p:nvPr/>
        </p:nvSpPr>
        <p:spPr>
          <a:xfrm rot="-8100000">
            <a:off x="3780290" y="2588450"/>
            <a:ext cx="169706" cy="169706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t/>
            </a:r>
            <a:endParaRPr b="0" i="0" sz="13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g3b0c93173ad_0_564"/>
          <p:cNvSpPr/>
          <p:nvPr/>
        </p:nvSpPr>
        <p:spPr>
          <a:xfrm rot="-8100000">
            <a:off x="4824360" y="2588450"/>
            <a:ext cx="169706" cy="169706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t/>
            </a:r>
            <a:endParaRPr b="0" i="0" sz="13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6" name="Google Shape;1506;g3b0c93173ad_0_564"/>
          <p:cNvCxnSpPr/>
          <p:nvPr/>
        </p:nvCxnSpPr>
        <p:spPr>
          <a:xfrm rot="10800000">
            <a:off x="3379140" y="3083118"/>
            <a:ext cx="0" cy="384300"/>
          </a:xfrm>
          <a:prstGeom prst="straightConnector1">
            <a:avLst/>
          </a:prstGeom>
          <a:noFill/>
          <a:ln cap="flat" cmpd="sng" w="12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7" name="Google Shape;1507;g3b0c93173ad_0_564"/>
          <p:cNvSpPr txBox="1"/>
          <p:nvPr/>
        </p:nvSpPr>
        <p:spPr>
          <a:xfrm>
            <a:off x="2801476" y="3532179"/>
            <a:ext cx="11838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r>
              <a:rPr b="1" i="0" lang="pt-BR" sz="749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749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Alteração de etapa: Distrato automático unilateral por inadimplência</a:t>
            </a:r>
            <a:endParaRPr b="0" i="0" sz="749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08" name="Google Shape;1508;g3b0c93173ad_0_564"/>
          <p:cNvCxnSpPr/>
          <p:nvPr/>
        </p:nvCxnSpPr>
        <p:spPr>
          <a:xfrm rot="10800000">
            <a:off x="4437211" y="1837453"/>
            <a:ext cx="0" cy="430500"/>
          </a:xfrm>
          <a:prstGeom prst="straightConnector1">
            <a:avLst/>
          </a:prstGeom>
          <a:noFill/>
          <a:ln cap="flat" cmpd="sng" w="12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9" name="Google Shape;1509;g3b0c93173ad_0_564"/>
          <p:cNvSpPr txBox="1"/>
          <p:nvPr/>
        </p:nvSpPr>
        <p:spPr>
          <a:xfrm>
            <a:off x="3845483" y="1316201"/>
            <a:ext cx="11838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1"/>
              <a:buFont typeface="Arial"/>
              <a:buNone/>
            </a:pPr>
            <a:r>
              <a:rPr b="1" i="0" lang="pt-BR" sz="749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749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Obrigações contratuais e valores rescisórios</a:t>
            </a:r>
            <a:endParaRPr b="0" i="0" sz="749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10" name="Google Shape;1510;g3b0c93173ad_0_564"/>
          <p:cNvCxnSpPr/>
          <p:nvPr/>
        </p:nvCxnSpPr>
        <p:spPr>
          <a:xfrm rot="10800000">
            <a:off x="5481281" y="3078940"/>
            <a:ext cx="0" cy="430500"/>
          </a:xfrm>
          <a:prstGeom prst="straightConnector1">
            <a:avLst/>
          </a:prstGeom>
          <a:noFill/>
          <a:ln cap="flat" cmpd="sng" w="12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1" name="Google Shape;1511;g3b0c93173ad_0_564"/>
          <p:cNvSpPr txBox="1"/>
          <p:nvPr/>
        </p:nvSpPr>
        <p:spPr>
          <a:xfrm>
            <a:off x="4889553" y="3532188"/>
            <a:ext cx="11838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r>
              <a:rPr b="1" i="0" lang="pt-BR" sz="749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749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Última oportunidade liquidação financeira amigável </a:t>
            </a:r>
            <a:endParaRPr b="0" i="0" sz="749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12" name="Google Shape;1512;g3b0c93173ad_0_564" title="03sssss-0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3" name="Google Shape;1513;g3b0c93173ad_0_564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5366" y="1131017"/>
            <a:ext cx="129157" cy="134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4" name="Google Shape;1514;g3b0c93173ad_0_564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7113" y="929914"/>
            <a:ext cx="145683" cy="145683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g3b0c93173ad_0_564"/>
          <p:cNvSpPr txBox="1"/>
          <p:nvPr/>
        </p:nvSpPr>
        <p:spPr>
          <a:xfrm>
            <a:off x="7858243" y="918800"/>
            <a:ext cx="8838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50375" spcFirstLastPara="1" rIns="503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3"/>
              <a:buFont typeface="Arial"/>
              <a:buNone/>
            </a:pPr>
            <a:r>
              <a:rPr b="0" i="1" lang="pt-BR" sz="494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WhatsApp</a:t>
            </a:r>
            <a:endParaRPr b="0" i="1" sz="33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g3b0c93173ad_0_564"/>
          <p:cNvSpPr txBox="1"/>
          <p:nvPr/>
        </p:nvSpPr>
        <p:spPr>
          <a:xfrm>
            <a:off x="7865039" y="1120753"/>
            <a:ext cx="8838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50375" spcFirstLastPara="1" rIns="503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3"/>
              <a:buFont typeface="Arial"/>
              <a:buNone/>
            </a:pPr>
            <a:r>
              <a:rPr b="0" i="1" lang="pt-BR" sz="494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E-mail</a:t>
            </a:r>
            <a:endParaRPr b="0" i="1" sz="33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g3b0c93173ad_0_564"/>
          <p:cNvSpPr txBox="1"/>
          <p:nvPr/>
        </p:nvSpPr>
        <p:spPr>
          <a:xfrm>
            <a:off x="393979" y="147779"/>
            <a:ext cx="5404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Nova Régua de Cobrança</a:t>
            </a:r>
            <a:endParaRPr b="1" i="0" sz="2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8" name="Google Shape;1518;g3b0c93173ad_0_564"/>
          <p:cNvSpPr txBox="1"/>
          <p:nvPr/>
        </p:nvSpPr>
        <p:spPr>
          <a:xfrm>
            <a:off x="408222" y="529117"/>
            <a:ext cx="511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1400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Carteiras: Blips, Ideal, FIDCs e FINZA</a:t>
            </a:r>
            <a:endParaRPr b="0" i="0" sz="1400" u="none" cap="none" strike="noStrike">
              <a:solidFill>
                <a:srgbClr val="7575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19" name="Google Shape;1519;g3b0c93173ad_0_564"/>
          <p:cNvSpPr txBox="1"/>
          <p:nvPr/>
        </p:nvSpPr>
        <p:spPr>
          <a:xfrm>
            <a:off x="420800" y="830750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11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Distrato (Liquidação Financeira)</a:t>
            </a:r>
            <a:endParaRPr b="0" i="0" sz="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g3b0c93173ad_0_564"/>
          <p:cNvSpPr/>
          <p:nvPr/>
        </p:nvSpPr>
        <p:spPr>
          <a:xfrm>
            <a:off x="8751649" y="1348931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g3b0c93173ad_0_564"/>
          <p:cNvSpPr txBox="1"/>
          <p:nvPr/>
        </p:nvSpPr>
        <p:spPr>
          <a:xfrm>
            <a:off x="7844514" y="1311584"/>
            <a:ext cx="883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50375" spcFirstLastPara="1" rIns="503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3"/>
              <a:buFont typeface="Arial"/>
              <a:buNone/>
            </a:pPr>
            <a:r>
              <a:rPr i="1" lang="pt-BR" sz="494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RCS</a:t>
            </a:r>
            <a:endParaRPr b="0" i="1" sz="33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2" name="Google Shape;1522;g3b0c93173ad_0_564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5741" y="3537775"/>
            <a:ext cx="129157" cy="134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23" name="Google Shape;1523;g3b0c93173ad_0_564"/>
          <p:cNvSpPr/>
          <p:nvPr/>
        </p:nvSpPr>
        <p:spPr>
          <a:xfrm>
            <a:off x="2371298" y="3554945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4" name="Google Shape;1524;g3b0c93173ad_0_564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47430" y="3532203"/>
            <a:ext cx="145683" cy="145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5" name="Google Shape;1525;g3b0c93173ad_0_564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7148" y="3560525"/>
            <a:ext cx="129157" cy="134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g3b0c93173ad_0_564"/>
          <p:cNvSpPr/>
          <p:nvPr/>
        </p:nvSpPr>
        <p:spPr>
          <a:xfrm>
            <a:off x="4592704" y="3577695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7" name="Google Shape;1527;g3b0c93173ad_0_564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8837" y="3554953"/>
            <a:ext cx="145683" cy="145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g3b0c93173ad_0_564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5966" y="1365400"/>
            <a:ext cx="129157" cy="134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29" name="Google Shape;1529;g3b0c93173ad_0_564"/>
          <p:cNvSpPr/>
          <p:nvPr/>
        </p:nvSpPr>
        <p:spPr>
          <a:xfrm>
            <a:off x="3421523" y="1382570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0" name="Google Shape;1530;g3b0c93173ad_0_564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7655" y="1359828"/>
            <a:ext cx="145683" cy="145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5" name="Google Shape;1535;g3d15892e88b_0_3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" name="Google Shape;1536;g3d15892e88b_0_3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g3d15892e88b_0_3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38" name="Google Shape;1538;g3d15892e88b_0_3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Distrato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g3d15892e88b_0_3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g3d15892e88b_0_3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+91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1" name="Google Shape;1541;g3d15892e88b_0_3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42" name="Google Shape;1542;g3d15892e88b_0_3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atualização do contrato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43" name="Google Shape;1543;g3d15892e88b_0_3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44" name="Google Shape;1544;g3d15892e88b_0_3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45" name="Google Shape;1545;g3d15892e88b_0_3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46" name="Google Shape;1546;g3d15892e88b_0_3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47" name="Google Shape;1547;g3d15892e88b_0_3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devido à permanência da inadimplência, os contratos abaixo avançaram para a etapa de cancelamento automático, conforme previsto em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🚨 Importante: enquanto o equipamento não for devolvido, todos os vencimentos em atraso e também aqueles que vencerem até a data da devolução continuarão sendo considerados devidos e serão incorporados aos valores de distrato.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 para orientações sobre a regularização e os próximos passos.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48" name="Google Shape;1548;g3d15892e88b_0_3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49" name="Google Shape;1549;g3d15892e88b_0_3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50" name="Google Shape;1550;g3d15892e88b_0_3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 é a última oportunidade para regularização amigável do seu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que o contrato permaneça ativo e o equipamento possa ser desbloqueado para uso, possibilitando a continuidade da sua operação e a geração de receitas, solicitamos a regularização ou retorno em até 24 horas após o recebimento desta comunicação.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caso não haja regularização imediata, o contrato poderá ser cancelado, conforme previsto nas condições contratuais, com a consequente descontinuidade definitiva da utilização do equipamento.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 medida poderá impactar diretamente a sua operação, incluindo a interrupção dos serviços e a necessidade de retirada dos equipamentos.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Dessa forma, reforçamos que este é um momento crítico para regularização das pendências.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51" name="Google Shape;1551;g3d15892e88b_0_3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 Notificação de cancelamento do contrato e retirada de equipamentos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52" name="Google Shape;1552;g3d15892e88b_0_3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Atualização do contrato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devido à permanência da inadimplência, os contratos abaixo avançaram para a etapa de cancelamento automático, conforme previsto em contrato.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🚨 Importante: enquanto o equipamento não for devolvido, todos os vencimentos em atraso e também aqueles que vencerem até a data da devolução continuarão sendo considerados devidos e serão incorporados aos valores de distrato.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 para orientações sobre a regularização e os próximos passos.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53" name="Google Shape;1553;g3d15892e88b_0_3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Concluir </a:t>
            </a: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cancelamento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54" name="Google Shape;1554;g3d15892e88b_0_3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55" name="Google Shape;1555;g3d15892e88b_0_3"/>
          <p:cNvSpPr/>
          <p:nvPr/>
        </p:nvSpPr>
        <p:spPr>
          <a:xfrm>
            <a:off x="72665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56" name="Google Shape;1556;g3d15892e88b_0_3"/>
          <p:cNvSpPr/>
          <p:nvPr/>
        </p:nvSpPr>
        <p:spPr>
          <a:xfrm>
            <a:off x="243889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Concluir cancelamento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57" name="Google Shape;1557;g3d15892e88b_0_3"/>
          <p:cNvSpPr/>
          <p:nvPr/>
        </p:nvSpPr>
        <p:spPr>
          <a:xfrm>
            <a:off x="336235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Google Shape;1562;g3d15892e88b_0_767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3" name="Google Shape;1563;g3d15892e88b_0_767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g3d15892e88b_0_767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65" name="Google Shape;1565;g3d15892e88b_0_767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Distrato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g3d15892e88b_0_767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g3d15892e88b_0_767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+91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8" name="Google Shape;1568;g3d15892e88b_0_767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69" name="Google Shape;1569;g3d15892e88b_0_767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seu contrato avançou de etapa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70" name="Google Shape;1570;g3d15892e88b_0_767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71" name="Google Shape;1571;g3d15892e88b_0_767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72" name="Google Shape;1572;g3d15892e88b_0_767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73" name="Google Shape;1573;g3d15892e88b_0_767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74" name="Google Shape;1574;g3d15892e88b_0_767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devido à permanência da inadimplência, os contratos abaixo avançaram para </a:t>
            </a: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uma nova etapa financeira, com possibilidade de execução total da dívida, onde o contrato inteiro passa a ser cobrado de uma vez.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 para orientações sobre a regularização e os próximos passos.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75" name="Google Shape;1575;g3d15892e88b_0_767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76" name="Google Shape;1576;g3d15892e88b_0_767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77" name="Google Shape;1577;g3d15892e88b_0_767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Identificamos que, devido à ausência de regularização, o seu contrato avançou para uma nova etapa financeira, podendo ocorrer a antecipação das parcelas previstas, com a consolidação do saldo total.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Neste cenário, o contrato pode evoluir conforme as condições estabelecidas, incluindo a adoção de medidas para recuperação do crédito e do bem financiado.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a regularização ou o contato com a nossa equipe para orientações sobre as alternativas disponíveis e os próximos passos.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consultar os detalhes e verificar sua situação, acesse: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o pagamento já tenha sido realizado, pedimos a gentileza de desconsiderar esta mensagem ou enviar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 precisar de apoio, fale com a gente: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78" name="Google Shape;1578;g3d15892e88b_0_767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{{Empresa}} - Atualização importante sobre a evolução do seu contrato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79" name="Google Shape;1579;g3d15892e88b_0_767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Nova etapa do contrato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devido à permanência da inadimplência, os contratos abaixo avançaram para uma nova etapa financeira, com possibilidade de execução total da dívida, onde o contrato inteiro passa a ser cobrado de uma vez.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 para orientações sobre a regularização e os próximos passos.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80" name="Google Shape;1580;g3d15892e88b_0_767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Concluir cancelamento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81" name="Google Shape;1581;g3d15892e88b_0_767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82" name="Google Shape;1582;g3d15892e88b_0_767"/>
          <p:cNvSpPr/>
          <p:nvPr/>
        </p:nvSpPr>
        <p:spPr>
          <a:xfrm>
            <a:off x="72665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83" name="Google Shape;1583;g3d15892e88b_0_767"/>
          <p:cNvSpPr/>
          <p:nvPr/>
        </p:nvSpPr>
        <p:spPr>
          <a:xfrm>
            <a:off x="243889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Concluir cancelamento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84" name="Google Shape;1584;g3d15892e88b_0_767"/>
          <p:cNvSpPr/>
          <p:nvPr/>
        </p:nvSpPr>
        <p:spPr>
          <a:xfrm>
            <a:off x="336235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85" name="Google Shape;1585;g3d15892e88b_0_767"/>
          <p:cNvSpPr/>
          <p:nvPr/>
        </p:nvSpPr>
        <p:spPr>
          <a:xfrm>
            <a:off x="5580964" y="208871"/>
            <a:ext cx="1193400" cy="170400"/>
          </a:xfrm>
          <a:prstGeom prst="flowChartAlternateProcess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FINZA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0" name="Google Shape;1590;g3d15892e88b_0_29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1" name="Google Shape;1591;g3d15892e88b_0_29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g3d15892e88b_0_29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93" name="Google Shape;1593;g3d15892e88b_0_29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Distrato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g3d15892e88b_0_29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g3d15892e88b_0_29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+96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6" name="Google Shape;1596;g3d15892e88b_0_29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97" name="Google Shape;1597;g3d15892e88b_0_29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existem atualizações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98" name="Google Shape;1598;g3d15892e88b_0_29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99" name="Google Shape;1599;g3d15892e88b_0_29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00" name="Google Shape;1600;g3d15892e88b_0_29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01" name="Google Shape;1601;g3d15892e88b_0_29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02" name="Google Shape;1602;g3d15892e88b_0_29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Em continuidade à etapa de distrato por inadimplência, informamos que os contratos abaixo geraram obrigações contratuais e valores rescisórios: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🚨 Importante: enquanto o equipamento não for devolvido, todos os vencimentos em atraso e também aqueles que vencerem até a data da devolução continuarão sendo considerados devidos e serão incorporados aos valores de distrato.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 para orientações sobre a regularização e os próximos passos.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03" name="Google Shape;1603;g3d15892e88b_0_29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04" name="Google Shape;1604;g3d15892e88b_0_29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05" name="Google Shape;1605;g3d15892e88b_0_29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 é a última oportunidade para regularização amigável do seu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que o contrato permaneça ativo e o equipamento possa ser desbloqueado para uso, possibilitando a continuidade da sua operação e a geração de receitas, solicitamos a regularização ou retorno em até 24 horas após o recebimento desta comunicação.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caso não haja regularização imediata, o contrato poderá ser cancelado, conforme previsto nas condições contratuais, com a consequente descontinuidade definitiva da utilização do equipamento.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 medida poderá impactar diretamente a sua operação, incluindo a interrupção dos serviços e a necessidade de retirada dos equipamentos.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Dessa forma, reforçamos que este é um momento crítico para regularização das pendências.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06" name="Google Shape;1606;g3d15892e88b_0_29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 Notificação de cancelamento do contrato e retirada de equipamentos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07" name="Google Shape;1607;g3d15892e88b_0_29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Notificação de cancelamento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Olá, {{Primeiro_Nome_Responsavel}} 🙂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Em continuidade à etapa de distrato por inadimplência, informamos que os contratos abaixo geraram obrigações contratuais e valores rescisórios: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🚨 Importante: enquanto o equipamento não for devolvido, todos os vencimentos em atraso e também aqueles que vencerem até a data da devolução continuarão sendo considerados devidos e serão incorporados aos valores de distrato.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 para orientações sobre a regularização e os próximos passos.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08" name="Google Shape;1608;g3d15892e88b_0_29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Concluir cancelamento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09" name="Google Shape;1609;g3d15892e88b_0_29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10" name="Google Shape;1610;g3d15892e88b_0_29"/>
          <p:cNvSpPr/>
          <p:nvPr/>
        </p:nvSpPr>
        <p:spPr>
          <a:xfrm>
            <a:off x="72665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11" name="Google Shape;1611;g3d15892e88b_0_29"/>
          <p:cNvSpPr/>
          <p:nvPr/>
        </p:nvSpPr>
        <p:spPr>
          <a:xfrm>
            <a:off x="243889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Concluir cancelamento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12" name="Google Shape;1612;g3d15892e88b_0_29"/>
          <p:cNvSpPr/>
          <p:nvPr/>
        </p:nvSpPr>
        <p:spPr>
          <a:xfrm>
            <a:off x="336235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" name="Google Shape;1617;g3d15892e88b_0_820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8" name="Google Shape;1618;g3d15892e88b_0_820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g3d15892e88b_0_820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20" name="Google Shape;1620;g3d15892e88b_0_820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Distrato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g3d15892e88b_0_820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g3d15892e88b_0_820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+96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3" name="Google Shape;1623;g3d15892e88b_0_820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24" name="Google Shape;1624;g3d15892e88b_0_820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existem atualizações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25" name="Google Shape;1625;g3d15892e88b_0_820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26" name="Google Shape;1626;g3d15892e88b_0_820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27" name="Google Shape;1627;g3d15892e88b_0_820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28" name="Google Shape;1628;g3d15892e88b_0_820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29" name="Google Shape;1629;g3d15892e88b_0_820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devido à permanência da inadimplência, os contratos abaixo estão em tratativa administrativa,  com possibilidade de execução total da dívida, onde o contrato inteiro passa a ser cobrado de uma vez.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 para orientações sobre a regularização e os próximos passos.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30" name="Google Shape;1630;g3d15892e88b_0_820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31" name="Google Shape;1631;g3d15892e88b_0_820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32" name="Google Shape;1632;g3d15892e88b_0_820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devido à permanência da ausência de regularização, os contratos abaixo encontram-se em tratativa administrativa, podendo evoluir para a antecipação das parcelas previstas, com a consolidação do saldo total.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Neste cenário, o contrato poderá avançar conforme as condições estabelecidas, incluindo a adoção de medidas para recuperação do crédito e do bem financiado.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Reforçamos que este é um momento importante para avaliação da situação e definição dos próximos passos.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o contato imediato com a nossa equipe para orientações sobre as alternativas disponíveis.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consultar os detalhes, acesse: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o pagamento já tenha sido realizado, pedimos a gentileza de desconsiderar esta mensagem ou encaminhar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33" name="Google Shape;1633;g3d15892e88b_0_820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{{Empresa}} - Atualização relevante sobre o seu contrato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34" name="Google Shape;1634;g3d15892e88b_0_820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Atualização de saldo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devido à permanência da inadimplência, os contratos abaixo estão em tratativa administrativa,  com possibilidade de execução total da dívida, onde o contrato inteiro passa a ser cobrado de uma vez.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 para orientações sobre a regularização e os próximos passos.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35" name="Google Shape;1635;g3d15892e88b_0_820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Concluir cancelamento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36" name="Google Shape;1636;g3d15892e88b_0_820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37" name="Google Shape;1637;g3d15892e88b_0_820"/>
          <p:cNvSpPr/>
          <p:nvPr/>
        </p:nvSpPr>
        <p:spPr>
          <a:xfrm>
            <a:off x="72665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38" name="Google Shape;1638;g3d15892e88b_0_820"/>
          <p:cNvSpPr/>
          <p:nvPr/>
        </p:nvSpPr>
        <p:spPr>
          <a:xfrm>
            <a:off x="243889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Concluir cancelamento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39" name="Google Shape;1639;g3d15892e88b_0_820"/>
          <p:cNvSpPr/>
          <p:nvPr/>
        </p:nvSpPr>
        <p:spPr>
          <a:xfrm>
            <a:off x="336235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40" name="Google Shape;1640;g3d15892e88b_0_820"/>
          <p:cNvSpPr/>
          <p:nvPr/>
        </p:nvSpPr>
        <p:spPr>
          <a:xfrm>
            <a:off x="5580964" y="208871"/>
            <a:ext cx="1193400" cy="170400"/>
          </a:xfrm>
          <a:prstGeom prst="flowChartAlternateProcess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FINZA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g3d15892e88b_0_55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g3d15892e88b_0_55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g3d15892e88b_0_55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48" name="Google Shape;1648;g3d15892e88b_0_55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Distrato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g3d15892e88b_0_55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g3d15892e88b_0_55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+99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1" name="Google Shape;1651;g3d15892e88b_0_55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52" name="Google Shape;1652;g3d15892e88b_0_55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ainda dá tempo 🤝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53" name="Google Shape;1653;g3d15892e88b_0_55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54" name="Google Shape;1654;g3d15892e88b_0_55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55" name="Google Shape;1655;g3d15892e88b_0_55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56" name="Google Shape;1656;g3d15892e88b_0_55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57" name="Google Shape;1657;g3d15892e88b_0_55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 mensagem refere-se à última oportunidade para liquidação financeira amigável dos débitos vinculados aos contratos abaixo: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não retorno poderá resultar no avanço das medidas contratuais e legais cabíveis, por meio da nossa área jurídica.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 para orientações sobre a regularização e os próximos passos.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58" name="Google Shape;1658;g3d15892e88b_0_55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59" name="Google Shape;1659;g3d15892e88b_0_55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60" name="Google Shape;1660;g3d15892e88b_0_55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 é a última oportunidade para regularização amigável do seu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que o contrato permaneça ativo e o equipamento possa ser desbloqueado para uso, possibilitando a continuidade da sua operação e a geração de receitas, solicitamos a regularização ou retorno em até 24 horas após o recebimento desta comunicação.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caso não haja regularização imediata, o contrato poderá ser cancelado, conforme previsto nas condições contratuais, com a consequente descontinuidade definitiva da utilização do equipamento.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 medida poderá impactar diretamente a sua operação, incluindo a interrupção dos serviços e a necessidade de retirada dos equipamentos.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Dessa forma, reforçamos que este é um momento crítico para regularização das pendências.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61" name="Google Shape;1661;g3d15892e88b_0_55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 Notificação de cancelamento do contrato e retirada de equipamentos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62" name="Google Shape;1662;g3d15892e88b_0_55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Notificação de cancelamento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 mensagem refere-se à última oportunidade para liquidação financeira amigável dos débitos vinculados aos contratos abaixo: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não retorno poderá resultar no avanço das medidas contratuais e legais cabíveis, por meio da nossa área jurídica.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 para orientações sobre a regularização e os próximos passos.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63" name="Google Shape;1663;g3d15892e88b_0_55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Concluir cancelamento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64" name="Google Shape;1664;g3d15892e88b_0_55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65" name="Google Shape;1665;g3d15892e88b_0_55"/>
          <p:cNvSpPr/>
          <p:nvPr/>
        </p:nvSpPr>
        <p:spPr>
          <a:xfrm>
            <a:off x="72665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66" name="Google Shape;1666;g3d15892e88b_0_55"/>
          <p:cNvSpPr/>
          <p:nvPr/>
        </p:nvSpPr>
        <p:spPr>
          <a:xfrm>
            <a:off x="243889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Concluir cancelamento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67" name="Google Shape;1667;g3d15892e88b_0_55"/>
          <p:cNvSpPr/>
          <p:nvPr/>
        </p:nvSpPr>
        <p:spPr>
          <a:xfrm>
            <a:off x="336235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2" name="Google Shape;1672;g3d15892e88b_0_847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3" name="Google Shape;1673;g3d15892e88b_0_847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g3d15892e88b_0_847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75" name="Google Shape;1675;g3d15892e88b_0_847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Distrato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g3d15892e88b_0_847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g3d15892e88b_0_847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+99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8" name="Google Shape;1678;g3d15892e88b_0_847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79" name="Google Shape;1679;g3d15892e88b_0_847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ainda dá tempo 🤝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80" name="Google Shape;1680;g3d15892e88b_0_847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81" name="Google Shape;1681;g3d15892e88b_0_847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82" name="Google Shape;1682;g3d15892e88b_0_847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83" name="Google Shape;1683;g3d15892e88b_0_847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84" name="Google Shape;1684;g3d15892e88b_0_847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 mensagem refere-se à última oportunidade para regularização financeira amigável dos débitos vinculados aos contratos abaixo: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não retorno poderá resultar no avanço das medidas contratuais e legais cabíveis, por meio da nossa área jurídica.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 para orientações sobre a regularização e os próximos passos.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85" name="Google Shape;1685;g3d15892e88b_0_847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86" name="Google Shape;1686;g3d15892e88b_0_847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87" name="Google Shape;1687;g3d15892e88b_0_847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 comunicação refere-se à última oportunidade para regularização financeira amigável dos débitos vinculados aos contratos abaixo: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Em razão da ausência de regularização até o momento, o contrato encontra-se em fase avançada, podendo evoluir conforme as condições previstas, inclusive com a antecipação das parcelas e a consolidação do saldo total.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não retorno poderá resultar no avanço das medidas contratuais e legais aplicáveis, incluindo a adoção de procedimentos por nossa área responsável para recuperação do crédito e do bem financiado.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Reforçamos a importância do contato imediato para avaliação das alternativas disponíveis e orientação sobre os próximos passos.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consultar os detalhes e verificar sua situação, acesse: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o pagamento já tenha sido realizado, pedimos a gentileza de desconsiderar esta mensagem ou encaminhar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88" name="Google Shape;1688;g3d15892e88b_0_847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{{Empresa}} - Notificação sobre evolução do seu contrato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89" name="Google Shape;1689;g3d15892e88b_0_847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Última oportunidade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 mensagem refere-se à última oportunidade para regularização financeira amigável dos débitos vinculados aos contratos abaixo: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não retorno poderá resultar no avanço das medidas contratuais e legais cabíveis, por meio da nossa área jurídica.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 para orientações sobre a regularização e os próximos passos.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90" name="Google Shape;1690;g3d15892e88b_0_847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Concluir cancelamento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91" name="Google Shape;1691;g3d15892e88b_0_847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92" name="Google Shape;1692;g3d15892e88b_0_847"/>
          <p:cNvSpPr/>
          <p:nvPr/>
        </p:nvSpPr>
        <p:spPr>
          <a:xfrm>
            <a:off x="726659" y="48559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93" name="Google Shape;1693;g3d15892e88b_0_847"/>
          <p:cNvSpPr/>
          <p:nvPr/>
        </p:nvSpPr>
        <p:spPr>
          <a:xfrm>
            <a:off x="2438894" y="48559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Concluir cancelamento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94" name="Google Shape;1694;g3d15892e88b_0_847"/>
          <p:cNvSpPr/>
          <p:nvPr/>
        </p:nvSpPr>
        <p:spPr>
          <a:xfrm>
            <a:off x="3362354" y="48559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695" name="Google Shape;1695;g3d15892e88b_0_847"/>
          <p:cNvSpPr/>
          <p:nvPr/>
        </p:nvSpPr>
        <p:spPr>
          <a:xfrm>
            <a:off x="5580964" y="208871"/>
            <a:ext cx="1193400" cy="170400"/>
          </a:xfrm>
          <a:prstGeom prst="flowChartAlternateProcess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FINZA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0" name="Google Shape;1700;g3c1f116cfcf_0_4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3776" y="1619074"/>
            <a:ext cx="4903475" cy="14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1" name="Google Shape;1701;g3c1f116cfcf_0_491"/>
          <p:cNvSpPr txBox="1"/>
          <p:nvPr/>
        </p:nvSpPr>
        <p:spPr>
          <a:xfrm>
            <a:off x="5673813" y="3417903"/>
            <a:ext cx="21387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1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Etapa de Execução</a:t>
            </a:r>
            <a:endParaRPr b="0" i="0" sz="1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2" name="Google Shape;1702;g3c1f116cfcf_0_491"/>
          <p:cNvSpPr txBox="1"/>
          <p:nvPr/>
        </p:nvSpPr>
        <p:spPr>
          <a:xfrm>
            <a:off x="5673813" y="3703203"/>
            <a:ext cx="32322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pt-BR" sz="17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Retirada de Equipamentos</a:t>
            </a:r>
            <a:endParaRPr b="1" i="0" sz="17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3c1f116cfcf_0_627"/>
          <p:cNvSpPr/>
          <p:nvPr/>
        </p:nvSpPr>
        <p:spPr>
          <a:xfrm>
            <a:off x="3452235" y="2267953"/>
            <a:ext cx="810900" cy="8109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t/>
            </a:r>
            <a:endParaRPr b="0" i="0" sz="13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g3c1f116cfcf_0_627"/>
          <p:cNvSpPr txBox="1"/>
          <p:nvPr/>
        </p:nvSpPr>
        <p:spPr>
          <a:xfrm>
            <a:off x="3452235" y="2555427"/>
            <a:ext cx="810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rPr b="1" i="0" lang="pt-BR" sz="131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D+102</a:t>
            </a:r>
            <a:endParaRPr b="1" i="0" sz="131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9" name="Google Shape;1709;g3c1f116cfcf_0_627"/>
          <p:cNvSpPr txBox="1"/>
          <p:nvPr/>
        </p:nvSpPr>
        <p:spPr>
          <a:xfrm>
            <a:off x="3452235" y="2454096"/>
            <a:ext cx="8109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</a:pPr>
            <a:r>
              <a:rPr b="0" i="0" lang="pt-BR" sz="938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938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0" name="Google Shape;1710;g3c1f116cfcf_0_627"/>
          <p:cNvSpPr/>
          <p:nvPr/>
        </p:nvSpPr>
        <p:spPr>
          <a:xfrm>
            <a:off x="4496305" y="2267953"/>
            <a:ext cx="810900" cy="810900"/>
          </a:xfrm>
          <a:prstGeom prst="ellips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t/>
            </a:r>
            <a:endParaRPr b="0" i="0" sz="13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g3c1f116cfcf_0_627"/>
          <p:cNvSpPr txBox="1"/>
          <p:nvPr/>
        </p:nvSpPr>
        <p:spPr>
          <a:xfrm>
            <a:off x="4496305" y="2555427"/>
            <a:ext cx="810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rPr b="1" i="0" lang="pt-BR" sz="1313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D+110</a:t>
            </a:r>
            <a:endParaRPr b="1" i="0" sz="1313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2" name="Google Shape;1712;g3c1f116cfcf_0_627"/>
          <p:cNvSpPr txBox="1"/>
          <p:nvPr/>
        </p:nvSpPr>
        <p:spPr>
          <a:xfrm>
            <a:off x="4496305" y="2454096"/>
            <a:ext cx="8109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Font typeface="Arial"/>
              <a:buNone/>
            </a:pPr>
            <a:r>
              <a:rPr b="0" i="0" lang="pt-BR" sz="938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Faixa</a:t>
            </a:r>
            <a:endParaRPr b="0" i="0" sz="938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3" name="Google Shape;1713;g3c1f116cfcf_0_627"/>
          <p:cNvSpPr/>
          <p:nvPr/>
        </p:nvSpPr>
        <p:spPr>
          <a:xfrm rot="-8100000">
            <a:off x="4244732" y="2588450"/>
            <a:ext cx="169706" cy="169706"/>
          </a:xfrm>
          <a:prstGeom prst="rtTriangle">
            <a:avLst/>
          </a:prstGeom>
          <a:solidFill>
            <a:srgbClr val="0003C4"/>
          </a:solidFill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4"/>
              <a:buFont typeface="Arial"/>
              <a:buNone/>
            </a:pPr>
            <a:r>
              <a:t/>
            </a:r>
            <a:endParaRPr b="0" i="0" sz="13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4" name="Google Shape;1714;g3c1f116cfcf_0_627"/>
          <p:cNvCxnSpPr/>
          <p:nvPr/>
        </p:nvCxnSpPr>
        <p:spPr>
          <a:xfrm rot="10800000">
            <a:off x="3843582" y="3083118"/>
            <a:ext cx="0" cy="384300"/>
          </a:xfrm>
          <a:prstGeom prst="straightConnector1">
            <a:avLst/>
          </a:prstGeom>
          <a:noFill/>
          <a:ln cap="flat" cmpd="sng" w="12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5" name="Google Shape;1715;g3c1f116cfcf_0_627"/>
          <p:cNvSpPr txBox="1"/>
          <p:nvPr/>
        </p:nvSpPr>
        <p:spPr>
          <a:xfrm>
            <a:off x="3265918" y="3532179"/>
            <a:ext cx="11838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1"/>
              <a:buFont typeface="Arial"/>
              <a:buNone/>
            </a:pPr>
            <a:r>
              <a:rPr b="1" i="0" lang="pt-BR" sz="749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749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Penalidades Aplicáveis em caso de não devolução imediata do equipamento</a:t>
            </a:r>
            <a:endParaRPr b="0" i="0" sz="749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16" name="Google Shape;1716;g3c1f116cfcf_0_627"/>
          <p:cNvCxnSpPr/>
          <p:nvPr/>
        </p:nvCxnSpPr>
        <p:spPr>
          <a:xfrm rot="10800000">
            <a:off x="4901653" y="1837453"/>
            <a:ext cx="0" cy="430500"/>
          </a:xfrm>
          <a:prstGeom prst="straightConnector1">
            <a:avLst/>
          </a:prstGeom>
          <a:noFill/>
          <a:ln cap="flat" cmpd="sng" w="12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7" name="Google Shape;1717;g3c1f116cfcf_0_627"/>
          <p:cNvSpPr txBox="1"/>
          <p:nvPr/>
        </p:nvSpPr>
        <p:spPr>
          <a:xfrm>
            <a:off x="4309925" y="1316201"/>
            <a:ext cx="11838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800" lIns="85800" spcFirstLastPara="1" rIns="85800" wrap="square" tIns="85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1"/>
              <a:buFont typeface="Arial"/>
              <a:buNone/>
            </a:pPr>
            <a:r>
              <a:rPr b="1" i="0" lang="pt-BR" sz="749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r>
              <a:rPr b="0" i="0" lang="pt-BR" sz="749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: Reforço final </a:t>
            </a:r>
            <a:r>
              <a:rPr lang="pt-BR" sz="749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0" i="0" lang="pt-BR" sz="749" u="none" cap="none" strike="noStrike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 retirada do equipamento</a:t>
            </a:r>
            <a:endParaRPr b="0" i="0" sz="749" u="none" cap="none" strike="noStrike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8" name="Google Shape;1718;g3c1f116cfcf_0_627" title="03sssss-0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9" name="Google Shape;1719;g3c1f116cfcf_0_627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5366" y="1131017"/>
            <a:ext cx="129157" cy="134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g3c1f116cfcf_0_627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7113" y="929914"/>
            <a:ext cx="145683" cy="145683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g3c1f116cfcf_0_627"/>
          <p:cNvSpPr txBox="1"/>
          <p:nvPr/>
        </p:nvSpPr>
        <p:spPr>
          <a:xfrm>
            <a:off x="7858243" y="918800"/>
            <a:ext cx="883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50375" spcFirstLastPara="1" rIns="503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3"/>
              <a:buFont typeface="Arial"/>
              <a:buNone/>
            </a:pPr>
            <a:r>
              <a:rPr b="0" i="1" lang="pt-BR" sz="494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WhatsApp</a:t>
            </a:r>
            <a:endParaRPr b="0" i="1" sz="33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g3c1f116cfcf_0_627"/>
          <p:cNvSpPr txBox="1"/>
          <p:nvPr/>
        </p:nvSpPr>
        <p:spPr>
          <a:xfrm>
            <a:off x="7865039" y="1120753"/>
            <a:ext cx="883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50375" spcFirstLastPara="1" rIns="503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3"/>
              <a:buFont typeface="Arial"/>
              <a:buNone/>
            </a:pPr>
            <a:r>
              <a:rPr b="0" i="1" lang="pt-BR" sz="494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E-mail</a:t>
            </a:r>
            <a:endParaRPr b="0" i="1" sz="33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g3c1f116cfcf_0_627"/>
          <p:cNvSpPr txBox="1"/>
          <p:nvPr/>
        </p:nvSpPr>
        <p:spPr>
          <a:xfrm>
            <a:off x="393979" y="147779"/>
            <a:ext cx="5404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Nova Régua de Cobrança</a:t>
            </a:r>
            <a:endParaRPr b="1" i="0" sz="2100" u="none" cap="none" strike="noStrike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4" name="Google Shape;1724;g3c1f116cfcf_0_627"/>
          <p:cNvSpPr txBox="1"/>
          <p:nvPr/>
        </p:nvSpPr>
        <p:spPr>
          <a:xfrm>
            <a:off x="408222" y="529117"/>
            <a:ext cx="511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pt-BR" sz="1400" u="none" cap="none" strike="noStrike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Carteiras: Blips, Ideal, FIDCs e FINZA</a:t>
            </a:r>
            <a:endParaRPr b="0" i="0" sz="1400" u="none" cap="none" strike="noStrike">
              <a:solidFill>
                <a:srgbClr val="75757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25" name="Google Shape;1725;g3c1f116cfcf_0_627"/>
          <p:cNvSpPr txBox="1"/>
          <p:nvPr/>
        </p:nvSpPr>
        <p:spPr>
          <a:xfrm>
            <a:off x="420800" y="830750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11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Retirada de Equipamentos</a:t>
            </a:r>
            <a:endParaRPr b="0" i="0" sz="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g3c1f116cfcf_0_627"/>
          <p:cNvSpPr/>
          <p:nvPr/>
        </p:nvSpPr>
        <p:spPr>
          <a:xfrm>
            <a:off x="8751649" y="1348931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g3c1f116cfcf_0_627"/>
          <p:cNvSpPr txBox="1"/>
          <p:nvPr/>
        </p:nvSpPr>
        <p:spPr>
          <a:xfrm>
            <a:off x="7844514" y="1311584"/>
            <a:ext cx="883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50375" spcFirstLastPara="1" rIns="503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3"/>
              <a:buFont typeface="Arial"/>
              <a:buNone/>
            </a:pPr>
            <a:r>
              <a:rPr i="1" lang="pt-BR" sz="494">
                <a:solidFill>
                  <a:srgbClr val="75757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RCS</a:t>
            </a:r>
            <a:endParaRPr b="0" i="1" sz="33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8" name="Google Shape;1728;g3c1f116cfcf_0_627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716" y="3537750"/>
            <a:ext cx="129157" cy="134539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g3c1f116cfcf_0_627"/>
          <p:cNvSpPr/>
          <p:nvPr/>
        </p:nvSpPr>
        <p:spPr>
          <a:xfrm>
            <a:off x="2849273" y="3554920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0" name="Google Shape;1730;g3c1f116cfcf_0_627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5405" y="3532178"/>
            <a:ext cx="145683" cy="145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1" name="Google Shape;1731;g3c1f116cfcf_0_627" title="Asset 20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8016" y="1394550"/>
            <a:ext cx="129157" cy="134539"/>
          </a:xfrm>
          <a:prstGeom prst="rect">
            <a:avLst/>
          </a:prstGeom>
          <a:noFill/>
          <a:ln>
            <a:noFill/>
          </a:ln>
        </p:spPr>
      </p:pic>
      <p:sp>
        <p:nvSpPr>
          <p:cNvPr id="1732" name="Google Shape;1732;g3c1f116cfcf_0_627"/>
          <p:cNvSpPr/>
          <p:nvPr/>
        </p:nvSpPr>
        <p:spPr>
          <a:xfrm>
            <a:off x="3843573" y="1411720"/>
            <a:ext cx="129000" cy="100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3" name="Google Shape;1733;g3c1f116cfcf_0_627" title="c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19705" y="1388978"/>
            <a:ext cx="145683" cy="145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8" name="Google Shape;1738;g3d15892e88b_0_82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9" name="Google Shape;1739;g3d15892e88b_0_82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0" name="Google Shape;1740;g3d15892e88b_0_82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41" name="Google Shape;1741;g3d15892e88b_0_82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Retirada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g3d15892e88b_0_82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g3d15892e88b_0_82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+102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4" name="Google Shape;1744;g3d15892e88b_0_82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45" name="Google Shape;1745;g3d15892e88b_0_82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atualização sobre equipamento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46" name="Google Shape;1746;g3d15892e88b_0_82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47" name="Google Shape;1747;g3d15892e88b_0_82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48" name="Google Shape;1748;g3d15892e88b_0_82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49" name="Google Shape;1749;g3d15892e88b_0_82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50" name="Google Shape;1750;g3d15892e88b_0_82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⚠️Devolução dos Equipamentos.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{{Nome}}.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 a não devolução imediata dos equipamentos vinculados aos contratos abaixo poderá resultar na aplicação das penalidades previstas em contrato e na legislação vigente: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Contratos / Equipamentos: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Além das penalidades contratuais, poderão ser adotadas medidas judiciais cabíveis, incluindo busca e apreensão, cobrança integral do débito e demais providências legais.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51" name="Google Shape;1751;g3d15892e88b_0_82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52" name="Google Shape;1752;g3d15892e88b_0_82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Devolver Equipamento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53" name="Google Shape;1753;g3d15892e88b_0_82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54" name="Google Shape;1754;g3d15892e88b_0_82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55" name="Google Shape;1755;g3d15892e88b_0_82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 é a última oportunidade para regularização amigável do seu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que o contrato permaneça ativo e o equipamento possa ser desbloqueado para uso, possibilitando a continuidade da sua operação e a geração de receitas, solicitamos a regularização ou retorno em até 24 horas após o recebimento desta comunicação.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caso não haja regularização imediata, o contrato poderá ser cancelado, conforme previsto nas condições contratuais, com a consequente descontinuidade definitiva da utilização do equipamento.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 medida poderá impactar diretamente a sua operação, incluindo a interrupção dos serviços e a necessidade de retirada dos equipamentos.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Dessa forma, reforçamos que este é um momento crítico para regularização das pendências.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56" name="Google Shape;1756;g3d15892e88b_0_82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 Notificação de cancelamento do contrato e retirada de equipamentos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57" name="Google Shape;1757;g3d15892e88b_0_82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Equipamento vinculado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2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⚠️Devolução dos Equipamentos.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{{Nome}}.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 a não devolução imediata dos equipamentos vinculados aos contratos abaixo poderá resultar na aplicação das penalidades previstas em contrato e na legislação vigente: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Contratos / Equipamentos: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{{BLOCO_CONTRATOS}}</a:t>
            </a:r>
            <a:endParaRPr sz="2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Além das penalidades contratuais, poderão ser adotadas medidas judiciais cabíveis, incluindo busca e apreensão, cobrança integral do débito e demais providências legais.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Recomendamos contato imediato.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58" name="Google Shape;1758;g3d15892e88b_0_82"/>
          <p:cNvSpPr/>
          <p:nvPr/>
        </p:nvSpPr>
        <p:spPr>
          <a:xfrm>
            <a:off x="2338718" y="4855533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Devolver Equipamento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59" name="Google Shape;1759;g3d15892e88b_0_82"/>
          <p:cNvSpPr/>
          <p:nvPr/>
        </p:nvSpPr>
        <p:spPr>
          <a:xfrm>
            <a:off x="3262178" y="4855530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60" name="Google Shape;1760;g3d15892e88b_0_82"/>
          <p:cNvSpPr/>
          <p:nvPr/>
        </p:nvSpPr>
        <p:spPr>
          <a:xfrm>
            <a:off x="626482" y="4855530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5" name="Google Shape;1765;g3d15892e88b_0_874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g3d15892e88b_0_874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g3d15892e88b_0_874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68" name="Google Shape;1768;g3d15892e88b_0_874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Retirada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9" name="Google Shape;1769;g3d15892e88b_0_874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g3d15892e88b_0_874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+102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1" name="Google Shape;1771;g3d15892e88b_0_874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72" name="Google Shape;1772;g3d15892e88b_0_874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atualização sobre equipamento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73" name="Google Shape;1773;g3d15892e88b_0_874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74" name="Google Shape;1774;g3d15892e88b_0_874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75" name="Google Shape;1775;g3d15892e88b_0_874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76" name="Google Shape;1776;g3d15892e88b_0_874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77" name="Google Shape;1777;g3d15892e88b_0_874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segue com atualização pendente.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Conforme previsto em contrato, podem ocorrer medidas relacionadas à recuperação do bem financiado.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78" name="Google Shape;1778;g3d15892e88b_0_874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79" name="Google Shape;1779;g3d15892e88b_0_874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Devolver Equipamento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80" name="Google Shape;1780;g3d15892e88b_0_874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81" name="Google Shape;1781;g3d15892e88b_0_874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82" name="Google Shape;1782;g3d15892e88b_0_874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segue com atualização pendente até o momento.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Conforme previsto em contrato, a permanência dessa condição poderá resultar na evolução das medidas aplicáveis, incluindo a antecipação das parcelas e a adoção de procedimentos para recuperação do bem financiado.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Reforçamos a importância da regularização neste momento, a fim de evitar o avanço dessas etapas.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consultar os detalhes e verificar sua situação, acesse: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o pagamento já tenha sido realizado, pedimos a gentileza de desconsiderar esta mensagem ou encaminhar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 e orientações, fale com a gente: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83" name="Google Shape;1783;g3d15892e88b_0_874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{{Empresa}} - Atualização importante sobre o seu contrato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84" name="Google Shape;1784;g3d15892e88b_0_874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Equipamento vinculado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2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segue com atualização pendente.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Conforme previsto em contrato, podem ocorrer medidas relacionadas à recuperação do bem financiado.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85" name="Google Shape;1785;g3d15892e88b_0_874"/>
          <p:cNvSpPr/>
          <p:nvPr/>
        </p:nvSpPr>
        <p:spPr>
          <a:xfrm>
            <a:off x="2338718" y="4855533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Devolver Equipamento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86" name="Google Shape;1786;g3d15892e88b_0_874"/>
          <p:cNvSpPr/>
          <p:nvPr/>
        </p:nvSpPr>
        <p:spPr>
          <a:xfrm>
            <a:off x="3262178" y="4855530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87" name="Google Shape;1787;g3d15892e88b_0_874"/>
          <p:cNvSpPr/>
          <p:nvPr/>
        </p:nvSpPr>
        <p:spPr>
          <a:xfrm>
            <a:off x="626482" y="4855530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88" name="Google Shape;1788;g3d15892e88b_0_874"/>
          <p:cNvSpPr/>
          <p:nvPr/>
        </p:nvSpPr>
        <p:spPr>
          <a:xfrm>
            <a:off x="5580964" y="208871"/>
            <a:ext cx="1193400" cy="170400"/>
          </a:xfrm>
          <a:prstGeom prst="flowChartAlternateProcess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FINZA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3" name="Google Shape;1793;g3d15892e88b_0_161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4" name="Google Shape;1794;g3d15892e88b_0_161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g3d15892e88b_0_161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96" name="Google Shape;1796;g3d15892e88b_0_161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Retirada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g3d15892e88b_0_161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g3d15892e88b_0_161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+110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9" name="Google Shape;1799;g3d15892e88b_0_161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00" name="Google Shape;1800;g3d15892e88b_0_161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atualização sobre equipamento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01" name="Google Shape;1801;g3d15892e88b_0_161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02" name="Google Shape;1802;g3d15892e88b_0_161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03" name="Google Shape;1803;g3d15892e88b_0_161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04" name="Google Shape;1804;g3d15892e88b_0_161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05" name="Google Shape;1805;g3d15892e88b_0_161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🚨 MEDIDAS LEGAIS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{{Nome}}.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 até o momento não houve a devolução dos equipamentos vinculados aos contratos abaixo, tampouco retorno para regularização da situação.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Contratos / Equipamentos: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{{BLOCO_CONTRATOS}}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Diante da manutenção do descumprimento contratual, comunicamos que o caso poderá ser encaminhado para adoção imediata das medidas legais cabíveis, incluindo, mas não se limitando a: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- Busca e apreensão dos equipamentos;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- Cobrança integral dos valores devidos;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- Demais providências previstas em contrato e na legislação vigente.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Este é um último aviso administrativo.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Solicitamos contato imediato para evitar a formalização das medidas acima.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06" name="Google Shape;1806;g3d15892e88b_0_161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07" name="Google Shape;1807;g3d15892e88b_0_161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sz="522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Devolver Equipamento</a:t>
            </a:r>
            <a:endParaRPr sz="522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08" name="Google Shape;1808;g3d15892e88b_0_161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09" name="Google Shape;1809;g3d15892e88b_0_161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10" name="Google Shape;1810;g3d15892e88b_0_161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 é a última oportunidade para regularização amigável do seu contrato.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que o contrato permaneça ativo e o equipamento possa ser desbloqueado para uso, possibilitando a continuidade da sua operação e a geração de receitas, solicitamos a regularização ou retorno em até 24 horas após o recebimento desta comunicação.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que, caso não haja regularização imediata, o contrato poderá ser cancelado, conforme previsto nas condições contratuais, com a consequente descontinuidade definitiva da utilização do equipamento.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Essa medida poderá impactar diretamente a sua operação, incluindo a interrupção dos serviços e a necessidade de retirada dos equipamentos.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Dessa forma, reforçamos que este é um momento crítico para regularização das pendências.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já tenha realizado o pagamento, pedimos que desconsidere este aviso ou envie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suporte, fale com a gente pelo WhatsApp: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11" name="Google Shape;1811;g3d15892e88b_0_161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{{Empresa}} -  Notificação de cancelamento do contrato e retirada de equipamentos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12" name="Google Shape;1812;g3d15892e88b_0_161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</a:t>
            </a: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Equipamento vinculado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</a:t>
            </a: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🚨 MEDIDAS LEGAIS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200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2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{{Nome}}.</a:t>
            </a:r>
            <a:endParaRPr sz="200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Informamos que até o momento não houve a devolução dos equipamentos vinculados aos contratos abaixo, tampouco retorno para regularização da situação.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Contratos / Equipamentos: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{{BLOCO_CONTRATOS}}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Diante da manutenção do descumprimento contratual, comunicamos que o caso poderá ser encaminhado para adoção imediata das medidas legais cabíveis, incluindo, mas não se limitando a: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- Busca e apreensão dos equipamentos;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- Cobrança integral dos valores devidos;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- Demais providências previstas em contrato e na legislação vigente.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Este é um último aviso administrativo.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3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Solicitamos contato imediato para evitar a formalização das medidas acima.</a:t>
            </a:r>
            <a:endParaRPr sz="3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13" name="Google Shape;1813;g3d15892e88b_0_161"/>
          <p:cNvSpPr/>
          <p:nvPr/>
        </p:nvSpPr>
        <p:spPr>
          <a:xfrm>
            <a:off x="2336369" y="4866232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Devolver Equipamento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14" name="Google Shape;1814;g3d15892e88b_0_161"/>
          <p:cNvSpPr/>
          <p:nvPr/>
        </p:nvSpPr>
        <p:spPr>
          <a:xfrm>
            <a:off x="3259829" y="486622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15" name="Google Shape;1815;g3d15892e88b_0_161"/>
          <p:cNvSpPr/>
          <p:nvPr/>
        </p:nvSpPr>
        <p:spPr>
          <a:xfrm>
            <a:off x="624134" y="4866229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0" name="Google Shape;1820;g3d15892e88b_0_901" title="03sssss-0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266051" cy="9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1" name="Google Shape;1821;g3d15892e88b_0_901" title="03sssss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659" y="241671"/>
            <a:ext cx="496890" cy="3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g3d15892e88b_0_901"/>
          <p:cNvSpPr/>
          <p:nvPr/>
        </p:nvSpPr>
        <p:spPr>
          <a:xfrm>
            <a:off x="4754770" y="865461"/>
            <a:ext cx="1668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E-mail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23" name="Google Shape;1823;g3d15892e88b_0_901"/>
          <p:cNvSpPr txBox="1"/>
          <p:nvPr/>
        </p:nvSpPr>
        <p:spPr>
          <a:xfrm>
            <a:off x="6418684" y="347932"/>
            <a:ext cx="18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900" u="none" cap="none" strike="noStrike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Etapa: </a:t>
            </a:r>
            <a:r>
              <a:rPr lang="pt-BR" sz="900">
                <a:solidFill>
                  <a:srgbClr val="CC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Retirada</a:t>
            </a:r>
            <a:endParaRPr b="0" i="0" sz="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g3d15892e88b_0_901"/>
          <p:cNvSpPr/>
          <p:nvPr/>
        </p:nvSpPr>
        <p:spPr>
          <a:xfrm>
            <a:off x="5580964" y="430099"/>
            <a:ext cx="1193400" cy="170400"/>
          </a:xfrm>
          <a:prstGeom prst="flowChartAlternateProcess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Boleto Disponível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g3d15892e88b_0_901"/>
          <p:cNvSpPr txBox="1"/>
          <p:nvPr/>
        </p:nvSpPr>
        <p:spPr>
          <a:xfrm>
            <a:off x="0" y="35943"/>
            <a:ext cx="49977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Book de Mensagens: D</a:t>
            </a:r>
            <a:r>
              <a:rPr b="1" lang="pt-BR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+110</a:t>
            </a:r>
            <a:endParaRPr b="1"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6" name="Google Shape;1826;g3d15892e88b_0_901"/>
          <p:cNvSpPr/>
          <p:nvPr/>
        </p:nvSpPr>
        <p:spPr>
          <a:xfrm>
            <a:off x="236705" y="877192"/>
            <a:ext cx="20511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Abertura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27" name="Google Shape;1827;g3d15892e88b_0_901"/>
          <p:cNvSpPr/>
          <p:nvPr/>
        </p:nvSpPr>
        <p:spPr>
          <a:xfrm>
            <a:off x="236675" y="1058300"/>
            <a:ext cx="4458300" cy="9888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{{Primeiro_Nome_Responsavel}}, atualização sobre equipamento ⚠️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b="0" i="0" lang="pt-BR" sz="586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b="0" i="0" sz="586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28" name="Google Shape;1828;g3d15892e88b_0_901"/>
          <p:cNvSpPr/>
          <p:nvPr/>
        </p:nvSpPr>
        <p:spPr>
          <a:xfrm>
            <a:off x="2336369" y="2059128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Ver detalhes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29" name="Google Shape;1829;g3d15892e88b_0_901"/>
          <p:cNvSpPr/>
          <p:nvPr/>
        </p:nvSpPr>
        <p:spPr>
          <a:xfrm>
            <a:off x="3259829" y="2059125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b="0" i="0" lang="pt-BR" sz="522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Preciso de ajuda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30" name="Google Shape;1830;g3d15892e88b_0_901"/>
          <p:cNvSpPr/>
          <p:nvPr/>
        </p:nvSpPr>
        <p:spPr>
          <a:xfrm>
            <a:off x="624134" y="2059125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31" name="Google Shape;1831;g3d15892e88b_0_901"/>
          <p:cNvSpPr/>
          <p:nvPr/>
        </p:nvSpPr>
        <p:spPr>
          <a:xfrm>
            <a:off x="239276" y="2327405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i="0" lang="pt-BR" sz="9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WhatsApp - </a:t>
            </a: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 direcionada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32" name="Google Shape;1832;g3d15892e88b_0_901"/>
          <p:cNvSpPr/>
          <p:nvPr/>
        </p:nvSpPr>
        <p:spPr>
          <a:xfrm>
            <a:off x="239250" y="2489607"/>
            <a:ext cx="4458300" cy="10914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 🙂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permanece sem atualização no momento.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Poderão ser adotadas as medidas previstas em contrato, incluindo ações para recuperação do bem financiado.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disponíveis para orientação.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33" name="Google Shape;1833;g3d15892e88b_0_901"/>
          <p:cNvSpPr/>
          <p:nvPr/>
        </p:nvSpPr>
        <p:spPr>
          <a:xfrm>
            <a:off x="220440" y="3826162"/>
            <a:ext cx="29832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204"/>
              <a:buFont typeface="Alexandria"/>
              <a:buNone/>
            </a:pPr>
            <a:r>
              <a:rPr b="1" lang="pt-BR" sz="90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RCS (fallback)</a:t>
            </a:r>
            <a:endParaRPr b="1" i="0" sz="900" u="none" cap="none" strike="noStrike">
              <a:solidFill>
                <a:srgbClr val="000000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34" name="Google Shape;1834;g3d15892e88b_0_901"/>
          <p:cNvSpPr/>
          <p:nvPr/>
        </p:nvSpPr>
        <p:spPr>
          <a:xfrm>
            <a:off x="2336369" y="358100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sz="522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Devolver Equipamento</a:t>
            </a:r>
            <a:endParaRPr sz="522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35" name="Google Shape;1835;g3d15892e88b_0_901"/>
          <p:cNvSpPr/>
          <p:nvPr/>
        </p:nvSpPr>
        <p:spPr>
          <a:xfrm>
            <a:off x="3259829" y="3581007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36" name="Google Shape;1836;g3d15892e88b_0_901"/>
          <p:cNvSpPr/>
          <p:nvPr/>
        </p:nvSpPr>
        <p:spPr>
          <a:xfrm>
            <a:off x="624134" y="3581007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37" name="Google Shape;1837;g3d15892e88b_0_901"/>
          <p:cNvSpPr/>
          <p:nvPr/>
        </p:nvSpPr>
        <p:spPr>
          <a:xfrm>
            <a:off x="4754784" y="1412541"/>
            <a:ext cx="4078800" cy="25269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Olá, {{Primeiro_Nome_Responsavel}},</a:t>
            </a: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b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segue com atualização pendente até o momento.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Conforme previsto em contrato, a permanência dessa condição poderá resultar na evolução das medidas aplicáveis, incluindo a antecipação das parcelas e a adoção de procedimentos para recuperação do bem financiado.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Reforçamos a importância da regularização neste momento, a fim de evitar o avanço dessas etapas.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consultar os detalhes e verificar sua situação, acesse: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https://app.blips.com.br/auth/login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Caso o pagamento já tenha sido realizado, pedimos a gentileza de desconsiderar esta mensagem ou encaminhar o comprovante para atualização.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Para suporte e orientações, fale com a gente: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👉 https://wa.me/{{TelefoneWhatsApp}}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Atenciosamente,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Equipe {{Empresa}}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Especialistas em (a)creditar 🚀</a:t>
            </a:r>
            <a:endParaRPr sz="5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38" name="Google Shape;1838;g3d15892e88b_0_901"/>
          <p:cNvSpPr/>
          <p:nvPr/>
        </p:nvSpPr>
        <p:spPr>
          <a:xfrm>
            <a:off x="4754750" y="1057128"/>
            <a:ext cx="4078800" cy="302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Assunto: </a:t>
            </a:r>
            <a:r>
              <a:rPr lang="pt-BR" sz="6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{{Empresa}} - Atualização importante sobre o seu contrato</a:t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39" name="Google Shape;1839;g3d15892e88b_0_901"/>
          <p:cNvSpPr/>
          <p:nvPr/>
        </p:nvSpPr>
        <p:spPr>
          <a:xfrm>
            <a:off x="220425" y="4026225"/>
            <a:ext cx="4458300" cy="827100"/>
          </a:xfrm>
          <a:prstGeom prst="rect">
            <a:avLst/>
          </a:prstGeom>
          <a:noFill/>
          <a:ln cap="flat" cmpd="sng" w="9525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Título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Equipamento vinculado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b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b="1"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Mensagem</a:t>
            </a: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: Olá, {{Primeiro_Nome_Responsavel}} 🙂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6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 contrato permanece sem atualização no momento.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📋 {{BLOCO_CONTRATOS}}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Poderão ser adotadas as medidas previstas em contrato, incluindo ações para recuperação do bem financiado.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t/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187"/>
              <a:buFont typeface="Alexandria"/>
              <a:buNone/>
            </a:pPr>
            <a:r>
              <a:rPr lang="pt-BR" sz="486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Seguimos disponíveis para orientação.</a:t>
            </a:r>
            <a:endParaRPr sz="486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40" name="Google Shape;1840;g3d15892e88b_0_901"/>
          <p:cNvSpPr/>
          <p:nvPr/>
        </p:nvSpPr>
        <p:spPr>
          <a:xfrm>
            <a:off x="2336369" y="4866232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Devolver Equipamento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41" name="Google Shape;1841;g3d15892e88b_0_901"/>
          <p:cNvSpPr/>
          <p:nvPr/>
        </p:nvSpPr>
        <p:spPr>
          <a:xfrm>
            <a:off x="3259829" y="4866229"/>
            <a:ext cx="9087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b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</a:br>
            <a:r>
              <a:rPr lang="pt-BR" sz="522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Falar com Atendente</a:t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42" name="Google Shape;1842;g3d15892e88b_0_901"/>
          <p:cNvSpPr/>
          <p:nvPr/>
        </p:nvSpPr>
        <p:spPr>
          <a:xfrm>
            <a:off x="624134" y="4866229"/>
            <a:ext cx="1698600" cy="191700"/>
          </a:xfrm>
          <a:prstGeom prst="rect">
            <a:avLst/>
          </a:prstGeom>
          <a:noFill/>
          <a:ln cap="flat" cmpd="sng" w="7250">
            <a:solidFill>
              <a:srgbClr val="0003C4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904"/>
              <a:buFont typeface="Alexandria"/>
              <a:buNone/>
            </a:pPr>
            <a:r>
              <a:t/>
            </a:r>
            <a:endParaRPr b="0" i="0" sz="522" u="none" cap="none" strike="noStrike">
              <a:solidFill>
                <a:srgbClr val="404155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843" name="Google Shape;1843;g3d15892e88b_0_901"/>
          <p:cNvSpPr/>
          <p:nvPr/>
        </p:nvSpPr>
        <p:spPr>
          <a:xfrm>
            <a:off x="5580964" y="208871"/>
            <a:ext cx="1193400" cy="170400"/>
          </a:xfrm>
          <a:prstGeom prst="flowChartAlternateProcess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lt1"/>
                </a:solidFill>
              </a:rPr>
              <a:t>FINZA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8" name="Google Shape;1848;g3b1ced83868_0_13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3776" y="1619074"/>
            <a:ext cx="4903475" cy="14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Google Shape;1849;g3b1ced83868_0_1374"/>
          <p:cNvSpPr txBox="1"/>
          <p:nvPr/>
        </p:nvSpPr>
        <p:spPr>
          <a:xfrm>
            <a:off x="6148194" y="4048931"/>
            <a:ext cx="26586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8"/>
              <a:buFont typeface="Arial"/>
              <a:buNone/>
            </a:pPr>
            <a:r>
              <a:rPr b="0" i="0" lang="pt-BR" sz="1588" u="none" cap="none" strike="noStrike">
                <a:solidFill>
                  <a:schemeClr val="lt1"/>
                </a:solidFill>
                <a:latin typeface="Work Sans ExtraLight"/>
                <a:ea typeface="Work Sans ExtraLight"/>
                <a:cs typeface="Work Sans ExtraLight"/>
                <a:sym typeface="Work Sans ExtraLight"/>
              </a:rPr>
              <a:t>Recuperação de Crédito</a:t>
            </a:r>
            <a:endParaRPr b="0" i="0" sz="1588" u="none" cap="none" strike="noStrike">
              <a:solidFill>
                <a:schemeClr val="lt1"/>
              </a:solidFill>
              <a:latin typeface="Work Sans ExtraLight"/>
              <a:ea typeface="Work Sans ExtraLight"/>
              <a:cs typeface="Work Sans ExtraLight"/>
              <a:sym typeface="Work Sans Extra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0" name="Google Shape;1850;g3b1ced83868_0_1374"/>
          <p:cNvSpPr txBox="1"/>
          <p:nvPr/>
        </p:nvSpPr>
        <p:spPr>
          <a:xfrm>
            <a:off x="5608328" y="4334234"/>
            <a:ext cx="32322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finza.com.br</a:t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